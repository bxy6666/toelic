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4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开场先说明项目不是单纯页面展示，而是一次从需求、设计、实现到验收的完整工程实践。
本次汇报会同时展示开发方法、技术路线、核心功能、验收证据和总结反思。
这版 PPT 使用项目真实截图，但截图全部保持原始比例，不再横向拉伸。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这页给听众建立路线感：先讲为什么做，再讲怎么做，最后看成果。
汇报的重点不是炫功能，而是说明开发过程和方法是否可复用。
后面的每一页都会尽量用证据、截图或流程图支撑，而不是堆文字。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这页要把项目动机讲具体：不是为了做一个 AI 玩具，而是补上学习闭环。
四个痛点对应后续四个功能区，也方便课堂听众理解产品为什么这样设计。
听力隐藏选项是一个很小但很关键的学习规则，后面会重点展示。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产品定位是本地个人版，降低复杂度，避免先做账号、云同步和权限系统。
真正的价值在闭环：生成题目只是入口，答题记录、错题和统计才让练习可持续。
本地 SQLite 保存学习数据，服务端读取 API Key，前端只负责学习体验。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这页把产品主流程讲成一条用户旅程，便于后面切到技术实现。
每个节点都有对应的数据或交互：题目、记录、错题状态、统计结果。
闭环的意思是下一次练习会从上一次的错误和统计中得到反馈。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spec-driven coding 的价值是把模糊想法转成可讨论的规格，再把规格拆成任务。
开发过程不是直接写页面，而是先约定边界、数据、接口、安全和验收标准。
对于课堂项目，这种方法能清楚展示“我如何推进项目”，而不只是“我做出了什么”。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这页可以结合项目根目录的四份文档讲过程。
重点强调每个文档都有出口条件：不是写完就算，而是能指导下一步。
这种流程让后续修改更可控，也让课堂汇报有明确证据。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这一页用矩阵展示任务推进，避免只是口头说“项目已经完善”。
T01-T15 是 MVP 主链路，T16-T22 是 UI、动效、复练、统计和展示体验增强。
课堂讲解时可以挑 T06、T09、T12、T17、T22 作为关键里程碑。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这页说明技术路线：前端用 Next.js App Router，后端用本地 API Route。
MaaS 调用和 API Key 留在服务端，SQLite 保存题目、记录、错题和设置。
这样既适合本地课堂演示，也避免把敏感配置暴露到浏览器。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保存 AI 生成题目，PracticeRecord 保存每次作答。
Mistake 聚合错误状态和 wrongCount，UserSetting 保存学习偏好。
这个模型没有过度复杂，但足够支持生成、练习、错题、统计四个核心功能。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这里强调 AI 调用不是直接相信模型，而是经过 JSON 解析和字段校验。
听力题必须有 listeningScript，语法题必须有 grammarPoint，非法结构不落库。
这种边界处理比单纯接入一个生成接口更接近真实工程实践。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听力页是最能体现学习规则的页面：答题前不能提前看英文选项正文。
播放与答题在同一工作区完成，提交后才展示完整解析。
截图使用等比例 contain 展示，移动端截图作为响应式证明。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语法页和听力页复用练习工作区，但交互规则不同。
课堂演示时可以生成一题、提交答案，再指出解析和语法点如何帮助复盘。
这页的重点是“题目不是一次性消费品”，它会进入记录和错题链路。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错题本不只是列表，而是包含重新练习、标记掌握和移除状态。
长截图不整张压扁，而是使用局部聚焦区展示核心功能。
wrongCount 和状态变化让复盘从静态记录变成动态学习过程。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统计页展示正确率、趋势、薄弱点和当前错题，帮助用户决定下一步练哪里。
V1.7 把统计页做成轻卡通仪表盘，让数据更适合课堂展示。
桌面和移动截图同时出现，说明页面经过响应式巡检。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这页用版本路线展示 UI 是如何逐步增强的。
V1.2 引入 Motion 动效，V1.4 做响应式巡检，V1.7 重构统计仪表盘。
强调 UI 迭代不是单纯装饰，而是可读性、反馈感和演示稳定性一起提升。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这页把验收结果集中展示，说明项目不是“能跑就行”。
lint、build、browser smoke、MaaS 真实生成都留下了可复查记录。
验收表把功能、工程、安全结果统一沉淀，避免只凭主观判断说完成。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总结时不要只说项目完成了哪些页面，而要说明自己如何从需求、设计、实现和验收四个层面控制项目。
最大的收获是先写清楚规格，再实现和验收，能减少反复返工，也能让每一次修改都有理由。
工程上的收获是认识到 AI 输出不能直接进入业务，必须经过边界隔离、字段校验、错误处理和验收记录。
后续可以扩展账号、多端同步、班级布置、更多题型和学习报告，但仍应先写规格再扩展实现。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总结时不要只说项目完成了哪些页面，而要说明自己如何从需求、设计、实现和验收四个层面控制项目。
最大的收获是先写清楚规格，再实现和验收，能减少反复返工，也能让每一次修改都有理由。
工程上的收获是认识到 AI 输出不能直接进入业务，必须经过边界隔离、字段校验、错误处理和验收记录。
后续可以扩展账号、多端同步、班级布置、更多题型和学习报告，但仍应先写规格再扩展实现。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notesSlide" Target="../notesSlides/notesSlide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8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tags" Target="../tags/tag4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20" Type="http://schemas.openxmlformats.org/officeDocument/2006/relationships/notesSlide" Target="../notesSlides/notesSlide18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openxmlformats.org/officeDocument/2006/relationships/tags" Target="../tags/tag46.xml"/><Relationship Id="rId10" Type="http://schemas.openxmlformats.org/officeDocument/2006/relationships/tags" Target="../tags/tag41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58368" y="56692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软件基础实验项目汇报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987552"/>
            <a:ext cx="649224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585216" y="2331974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971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驱动的托业练习工作室：从 spec-driven coding 到课堂可演示产品</a:t>
            </a:r>
          </a:p>
        </p:txBody>
      </p:sp>
      <p:sp>
        <p:nvSpPr>
          <p:cNvPr id="13" name="Text 10"/>
          <p:cNvSpPr/>
          <p:nvPr/>
        </p:nvSpPr>
        <p:spPr>
          <a:xfrm>
            <a:off x="585470" y="3067685"/>
            <a:ext cx="5013960" cy="2559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354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一套能生成、练习、复盘、统计的本地个人版学习闭环</a:t>
            </a:r>
          </a:p>
        </p:txBody>
      </p:sp>
      <p:sp>
        <p:nvSpPr>
          <p:cNvPr id="14" name="Text 11"/>
          <p:cNvSpPr/>
          <p:nvPr/>
        </p:nvSpPr>
        <p:spPr>
          <a:xfrm>
            <a:off x="658495" y="4578350"/>
            <a:ext cx="5180330" cy="1555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软基思想：需求建模 · 过程控制 · 对象抽象 · 验证闭环</a:t>
            </a:r>
          </a:p>
        </p:txBody>
      </p:sp>
      <p:sp>
        <p:nvSpPr>
          <p:cNvPr id="15" name="Shape 12"/>
          <p:cNvSpPr/>
          <p:nvPr/>
        </p:nvSpPr>
        <p:spPr>
          <a:xfrm>
            <a:off x="703707" y="4965700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651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791845" y="5083810"/>
            <a:ext cx="60350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Next.js</a:t>
            </a:r>
          </a:p>
        </p:txBody>
      </p:sp>
      <p:sp>
        <p:nvSpPr>
          <p:cNvPr id="17" name="Shape 14"/>
          <p:cNvSpPr/>
          <p:nvPr/>
        </p:nvSpPr>
        <p:spPr>
          <a:xfrm>
            <a:off x="1681861" y="4965700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651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754124" y="5083810"/>
            <a:ext cx="530352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8D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MaaS</a:t>
            </a:r>
          </a:p>
        </p:txBody>
      </p:sp>
      <p:sp>
        <p:nvSpPr>
          <p:cNvPr id="19" name="Shape 16"/>
          <p:cNvSpPr/>
          <p:nvPr/>
        </p:nvSpPr>
        <p:spPr>
          <a:xfrm>
            <a:off x="2586863" y="4965700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651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2696591" y="5083810"/>
            <a:ext cx="1078992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4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Prisma + SQLite</a:t>
            </a:r>
          </a:p>
        </p:txBody>
      </p:sp>
      <p:sp>
        <p:nvSpPr>
          <p:cNvPr id="21" name="Shape 18"/>
          <p:cNvSpPr/>
          <p:nvPr/>
        </p:nvSpPr>
        <p:spPr>
          <a:xfrm>
            <a:off x="4041013" y="4965700"/>
            <a:ext cx="106070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651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4141216" y="5083810"/>
            <a:ext cx="84124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spec-driven</a:t>
            </a:r>
          </a:p>
        </p:txBody>
      </p:sp>
      <p:sp>
        <p:nvSpPr>
          <p:cNvPr id="23" name="Shape 20"/>
          <p:cNvSpPr/>
          <p:nvPr/>
        </p:nvSpPr>
        <p:spPr>
          <a:xfrm>
            <a:off x="5948726" y="2353586"/>
            <a:ext cx="5513832" cy="3986784"/>
          </a:xfrm>
          <a:prstGeom prst="roundRect">
            <a:avLst>
              <a:gd name="adj" fmla="val 917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0" descr="E:\托业\output\playwright\v1-6-home-deskto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32170" y="2033905"/>
            <a:ext cx="5905500" cy="424815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372860" y="1370330"/>
            <a:ext cx="2593340" cy="444500"/>
          </a:xfrm>
          <a:prstGeom prst="roundRect">
            <a:avLst>
              <a:gd name="adj" fmla="val 15625"/>
            </a:avLst>
          </a:prstGeom>
          <a:solidFill>
            <a:srgbClr val="3B8F6E">
              <a:alpha val="94000"/>
            </a:srgbClr>
          </a:solidFill>
          <a:ln w="12700">
            <a:solidFill>
              <a:srgbClr val="3B8F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6372860" y="1454785"/>
            <a:ext cx="2595880" cy="2762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真实项目首页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1229868" y="4542282"/>
            <a:ext cx="27432" cy="27432"/>
          </a:xfrm>
          <a:prstGeom prst="ellipse">
            <a:avLst/>
          </a:prstGeom>
          <a:solidFill>
            <a:srgbClr val="17342F"/>
          </a:solidFill>
          <a:ln w="12700">
            <a:solidFill>
              <a:srgbClr val="1734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530352" y="6217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今天用四条线讲清楚这个项目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1216152"/>
            <a:ext cx="987552" cy="0"/>
          </a:xfrm>
          <a:prstGeom prst="line">
            <a:avLst/>
          </a:prstGeom>
          <a:noFill/>
          <a:ln w="3175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987552" y="189280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</a:p>
        </p:txBody>
      </p:sp>
      <p:sp>
        <p:nvSpPr>
          <p:cNvPr id="17" name="Text 14"/>
          <p:cNvSpPr/>
          <p:nvPr/>
        </p:nvSpPr>
        <p:spPr>
          <a:xfrm>
            <a:off x="1609344" y="166420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开发流程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609344" y="2130552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71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spec-driven coding 如何把想法变成可验收任务</a:t>
            </a:r>
          </a:p>
        </p:txBody>
      </p:sp>
      <p:sp>
        <p:nvSpPr>
          <p:cNvPr id="19" name="Shape 16"/>
          <p:cNvSpPr/>
          <p:nvPr/>
        </p:nvSpPr>
        <p:spPr>
          <a:xfrm>
            <a:off x="914400" y="2679192"/>
            <a:ext cx="3474720" cy="0"/>
          </a:xfrm>
          <a:prstGeom prst="line">
            <a:avLst/>
          </a:prstGeom>
          <a:noFill/>
          <a:ln w="16510">
            <a:solidFill>
              <a:srgbClr val="3B8F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6035040" y="1691640"/>
            <a:ext cx="566928" cy="56692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6199632" y="190169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</a:p>
        </p:txBody>
      </p:sp>
      <p:sp>
        <p:nvSpPr>
          <p:cNvPr id="22" name="Text 19"/>
          <p:cNvSpPr/>
          <p:nvPr/>
        </p:nvSpPr>
        <p:spPr>
          <a:xfrm>
            <a:off x="6821424" y="166420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6821424" y="2130552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71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Next.js + 本地 API + SQLite + MaaS 的边界设计</a:t>
            </a:r>
          </a:p>
        </p:txBody>
      </p:sp>
      <p:sp>
        <p:nvSpPr>
          <p:cNvPr id="24" name="Shape 21"/>
          <p:cNvSpPr/>
          <p:nvPr/>
        </p:nvSpPr>
        <p:spPr>
          <a:xfrm>
            <a:off x="6126480" y="2679192"/>
            <a:ext cx="3474720" cy="0"/>
          </a:xfrm>
          <a:prstGeom prst="line">
            <a:avLst/>
          </a:prstGeom>
          <a:noFill/>
          <a:ln w="16510">
            <a:solidFill>
              <a:srgbClr val="5B8DE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822960" y="3520440"/>
            <a:ext cx="566928" cy="566928"/>
          </a:xfrm>
          <a:prstGeom prst="ellipse">
            <a:avLst/>
          </a:prstGeom>
          <a:solidFill>
            <a:srgbClr val="F2A45D"/>
          </a:solidFill>
          <a:ln w="1270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997077" y="3748913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</a:p>
        </p:txBody>
      </p:sp>
      <p:sp>
        <p:nvSpPr>
          <p:cNvPr id="27" name="Text 24"/>
          <p:cNvSpPr/>
          <p:nvPr/>
        </p:nvSpPr>
        <p:spPr>
          <a:xfrm>
            <a:off x="1609344" y="349300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功能成果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1609344" y="3959352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71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听力、语法、错题、统计形成学习闭环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14400" y="4507992"/>
            <a:ext cx="3474720" cy="0"/>
          </a:xfrm>
          <a:prstGeom prst="line">
            <a:avLst/>
          </a:prstGeom>
          <a:noFill/>
          <a:ln w="16510">
            <a:solidFill>
              <a:srgbClr val="F2A4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7"/>
          <p:cNvSpPr/>
          <p:nvPr/>
        </p:nvSpPr>
        <p:spPr>
          <a:xfrm>
            <a:off x="6035040" y="3520440"/>
            <a:ext cx="566928" cy="5669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6199632" y="373049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</a:p>
        </p:txBody>
      </p:sp>
      <p:sp>
        <p:nvSpPr>
          <p:cNvPr id="32" name="Text 29"/>
          <p:cNvSpPr/>
          <p:nvPr/>
        </p:nvSpPr>
        <p:spPr>
          <a:xfrm>
            <a:off x="6821424" y="349300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验收反思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6821424" y="3959352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71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用验收记录和反思说明项目如何从可用走向可靠</a:t>
            </a:r>
          </a:p>
        </p:txBody>
      </p:sp>
      <p:sp>
        <p:nvSpPr>
          <p:cNvPr id="34" name="Shape 31"/>
          <p:cNvSpPr/>
          <p:nvPr/>
        </p:nvSpPr>
        <p:spPr>
          <a:xfrm>
            <a:off x="6126480" y="4507992"/>
            <a:ext cx="3474720" cy="0"/>
          </a:xfrm>
          <a:prstGeom prst="line">
            <a:avLst/>
          </a:prstGeom>
          <a:noFill/>
          <a:ln w="1651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8"/>
          <p:cNvSpPr/>
          <p:nvPr/>
        </p:nvSpPr>
        <p:spPr>
          <a:xfrm>
            <a:off x="10022738" y="5199278"/>
            <a:ext cx="0" cy="0"/>
          </a:xfrm>
          <a:prstGeom prst="line">
            <a:avLst/>
          </a:prstGeom>
          <a:noFill/>
          <a:ln w="381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530352" y="6217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学习痛点：题做了很多，但反馈链路经常断开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1216152"/>
            <a:ext cx="987552" cy="0"/>
          </a:xfrm>
          <a:prstGeom prst="line">
            <a:avLst/>
          </a:prstGeom>
          <a:noFill/>
          <a:ln w="3175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 rot="1500000">
            <a:off x="731520" y="1481328"/>
            <a:ext cx="731520" cy="731520"/>
          </a:xfrm>
          <a:prstGeom prst="arc">
            <a:avLst/>
          </a:prstGeom>
          <a:solidFill>
            <a:srgbClr val="3B8F6E">
              <a:alpha val="94000"/>
            </a:srgbClr>
          </a:solidFill>
          <a:ln w="12700">
            <a:solidFill>
              <a:srgbClr val="3B8F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664208" y="1499616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听力</a:t>
            </a:r>
          </a:p>
        </p:txBody>
      </p:sp>
      <p:sp>
        <p:nvSpPr>
          <p:cNvPr id="17" name="Text 14"/>
          <p:cNvSpPr/>
          <p:nvPr/>
        </p:nvSpPr>
        <p:spPr>
          <a:xfrm>
            <a:off x="1664208" y="1956816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答题前偷看选项会削弱真实训练感；播放、作答、解析经常分散</a:t>
            </a: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在不同工具.</a:t>
            </a:r>
            <a:r>
              <a:rPr lang="zh-CN" alt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。</a:t>
            </a:r>
          </a:p>
        </p:txBody>
      </p:sp>
      <p:sp>
        <p:nvSpPr>
          <p:cNvPr id="18" name="Text 15"/>
          <p:cNvSpPr/>
          <p:nvPr/>
        </p:nvSpPr>
        <p:spPr>
          <a:xfrm>
            <a:off x="1664208" y="2212848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664208" y="2779776"/>
            <a:ext cx="3429000" cy="0"/>
          </a:xfrm>
          <a:prstGeom prst="line">
            <a:avLst/>
          </a:prstGeom>
          <a:noFill/>
          <a:ln w="1270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 rot="1500000">
            <a:off x="5989320" y="1481328"/>
            <a:ext cx="731520" cy="731520"/>
          </a:xfrm>
          <a:prstGeom prst="arc">
            <a:avLst/>
          </a:prstGeom>
          <a:solidFill>
            <a:srgbClr val="F2A45D">
              <a:alpha val="94000"/>
            </a:srgbClr>
          </a:solidFill>
          <a:ln w="12700">
            <a:solidFill>
              <a:srgbClr val="F2A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6922008" y="1499616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2A4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语法</a:t>
            </a:r>
          </a:p>
        </p:txBody>
      </p:sp>
      <p:sp>
        <p:nvSpPr>
          <p:cNvPr id="22" name="Text 19"/>
          <p:cNvSpPr/>
          <p:nvPr/>
        </p:nvSpPr>
        <p:spPr>
          <a:xfrm>
            <a:off x="6922008" y="2099056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题源分散，解析质量不稳定，中文学习者需要更贴近语法点的说</a:t>
            </a: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明。</a:t>
            </a:r>
            <a:endParaRPr lang="en-US" sz="1600" dirty="0"/>
          </a:p>
          <a:p>
            <a:pPr marL="0" indent="0">
              <a:buNone/>
            </a:pPr>
            <a:endParaRPr lang="en-US" sz="1600" dirty="0">
              <a:solidFill>
                <a:srgbClr val="17342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922008" y="2212848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922008" y="2779776"/>
            <a:ext cx="3429000" cy="0"/>
          </a:xfrm>
          <a:prstGeom prst="line">
            <a:avLst/>
          </a:prstGeom>
          <a:noFill/>
          <a:ln w="1270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 rot="1500000">
            <a:off x="731520" y="3657600"/>
            <a:ext cx="731520" cy="731520"/>
          </a:xfrm>
          <a:prstGeom prst="arc">
            <a:avLst/>
          </a:prstGeom>
          <a:solidFill>
            <a:srgbClr val="5B8DEF">
              <a:alpha val="94000"/>
            </a:srgbClr>
          </a:solidFill>
          <a:ln w="12700">
            <a:solidFill>
              <a:srgbClr val="5B8D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1664208" y="3675888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5B8D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复盘</a:t>
            </a:r>
          </a:p>
        </p:txBody>
      </p:sp>
      <p:sp>
        <p:nvSpPr>
          <p:cNvPr id="27" name="Text 24"/>
          <p:cNvSpPr/>
          <p:nvPr/>
        </p:nvSpPr>
        <p:spPr>
          <a:xfrm>
            <a:off x="1664208" y="4279138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错题、掌握状态、重复错误次数如果不能沉淀，下一次复习很难</a:t>
            </a: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精准。</a:t>
            </a:r>
            <a:endParaRPr lang="en-US" sz="16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664208" y="4389120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664208" y="4956048"/>
            <a:ext cx="3429000" cy="0"/>
          </a:xfrm>
          <a:prstGeom prst="line">
            <a:avLst/>
          </a:prstGeom>
          <a:noFill/>
          <a:ln w="1270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7"/>
          <p:cNvSpPr/>
          <p:nvPr/>
        </p:nvSpPr>
        <p:spPr>
          <a:xfrm rot="1500000">
            <a:off x="5989320" y="3657600"/>
            <a:ext cx="731520" cy="731520"/>
          </a:xfrm>
          <a:prstGeom prst="arc">
            <a:avLst/>
          </a:prstGeom>
          <a:solidFill>
            <a:srgbClr val="E8868B">
              <a:alpha val="94000"/>
            </a:srgbClr>
          </a:solidFill>
          <a:ln w="12700">
            <a:solidFill>
              <a:srgbClr val="E886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6922008" y="3675888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E886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</a:t>
            </a:r>
          </a:p>
        </p:txBody>
      </p:sp>
      <p:sp>
        <p:nvSpPr>
          <p:cNvPr id="32" name="Text 29"/>
          <p:cNvSpPr/>
          <p:nvPr/>
        </p:nvSpPr>
        <p:spPr>
          <a:xfrm>
            <a:off x="6922008" y="4133088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只知道做了题，不知道薄弱点在哪里，也看不出短期趋势。</a:t>
            </a:r>
          </a:p>
        </p:txBody>
      </p:sp>
      <p:sp>
        <p:nvSpPr>
          <p:cNvPr id="33" name="Shape 30"/>
          <p:cNvSpPr/>
          <p:nvPr/>
        </p:nvSpPr>
        <p:spPr>
          <a:xfrm>
            <a:off x="6922008" y="4956048"/>
            <a:ext cx="3429000" cy="0"/>
          </a:xfrm>
          <a:prstGeom prst="line">
            <a:avLst/>
          </a:prstGeom>
          <a:noFill/>
          <a:ln w="1270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585597" y="631317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产品目标：本地个人版 TOEIC 学习闭环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1216152"/>
            <a:ext cx="987552" cy="0"/>
          </a:xfrm>
          <a:prstGeom prst="line">
            <a:avLst/>
          </a:prstGeom>
          <a:noFill/>
          <a:ln w="3175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76656" y="1444752"/>
            <a:ext cx="4828032" cy="3685032"/>
          </a:xfrm>
          <a:prstGeom prst="roundRect">
            <a:avLst>
              <a:gd name="adj" fmla="val 993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0" descr="E:\托业\output\playwright\v1-6-home-deskto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3232" y="1481328"/>
            <a:ext cx="4754880" cy="36118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217920" y="1673352"/>
            <a:ext cx="676656" cy="676656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6336792" y="1947799"/>
            <a:ext cx="43891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</a:t>
            </a:r>
          </a:p>
        </p:txBody>
      </p:sp>
      <p:sp>
        <p:nvSpPr>
          <p:cNvPr id="21" name="Text 17"/>
          <p:cNvSpPr/>
          <p:nvPr/>
        </p:nvSpPr>
        <p:spPr>
          <a:xfrm>
            <a:off x="7086600" y="1892808"/>
            <a:ext cx="13258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原创题目</a:t>
            </a:r>
          </a:p>
        </p:txBody>
      </p:sp>
      <p:sp>
        <p:nvSpPr>
          <p:cNvPr id="22" name="Shape 18"/>
          <p:cNvSpPr/>
          <p:nvPr/>
        </p:nvSpPr>
        <p:spPr>
          <a:xfrm>
            <a:off x="8641080" y="1673352"/>
            <a:ext cx="676656" cy="67665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/>
        </p:nvSpPr>
        <p:spPr>
          <a:xfrm>
            <a:off x="8742172" y="1947799"/>
            <a:ext cx="43891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练习</a:t>
            </a:r>
          </a:p>
        </p:txBody>
      </p:sp>
      <p:sp>
        <p:nvSpPr>
          <p:cNvPr id="24" name="Text 20"/>
          <p:cNvSpPr/>
          <p:nvPr/>
        </p:nvSpPr>
        <p:spPr>
          <a:xfrm>
            <a:off x="9510395" y="1892808"/>
            <a:ext cx="13258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听力 / 语法</a:t>
            </a:r>
          </a:p>
        </p:txBody>
      </p:sp>
      <p:sp>
        <p:nvSpPr>
          <p:cNvPr id="25" name="Shape 21"/>
          <p:cNvSpPr/>
          <p:nvPr/>
        </p:nvSpPr>
        <p:spPr>
          <a:xfrm>
            <a:off x="6217920" y="2999232"/>
            <a:ext cx="676656" cy="676656"/>
          </a:xfrm>
          <a:prstGeom prst="ellipse">
            <a:avLst/>
          </a:prstGeom>
          <a:solidFill>
            <a:srgbClr val="F2A45D"/>
          </a:solidFill>
          <a:ln w="1270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6336792" y="3270504"/>
            <a:ext cx="43891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错题</a:t>
            </a:r>
          </a:p>
        </p:txBody>
      </p:sp>
      <p:sp>
        <p:nvSpPr>
          <p:cNvPr id="27" name="Text 23"/>
          <p:cNvSpPr/>
          <p:nvPr/>
        </p:nvSpPr>
        <p:spPr>
          <a:xfrm>
            <a:off x="7086600" y="3218688"/>
            <a:ext cx="13258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复练与掌握</a:t>
            </a:r>
          </a:p>
        </p:txBody>
      </p:sp>
      <p:sp>
        <p:nvSpPr>
          <p:cNvPr id="28" name="Shape 24"/>
          <p:cNvSpPr/>
          <p:nvPr/>
        </p:nvSpPr>
        <p:spPr>
          <a:xfrm>
            <a:off x="8641080" y="2999232"/>
            <a:ext cx="676656" cy="676656"/>
          </a:xfrm>
          <a:prstGeom prst="ellipse">
            <a:avLst/>
          </a:prstGeom>
          <a:solidFill>
            <a:srgbClr val="E8868B"/>
          </a:solidFill>
          <a:ln w="12700">
            <a:solidFill>
              <a:srgbClr val="E886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5"/>
          <p:cNvSpPr/>
          <p:nvPr/>
        </p:nvSpPr>
        <p:spPr>
          <a:xfrm>
            <a:off x="8759952" y="3270504"/>
            <a:ext cx="43891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</a:t>
            </a:r>
          </a:p>
        </p:txBody>
      </p:sp>
      <p:sp>
        <p:nvSpPr>
          <p:cNvPr id="30" name="Text 26"/>
          <p:cNvSpPr/>
          <p:nvPr/>
        </p:nvSpPr>
        <p:spPr>
          <a:xfrm>
            <a:off x="9509760" y="3218688"/>
            <a:ext cx="13258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趋势与薄弱点</a:t>
            </a:r>
          </a:p>
        </p:txBody>
      </p:sp>
      <p:sp>
        <p:nvSpPr>
          <p:cNvPr id="32" name="Text 28"/>
          <p:cNvSpPr/>
          <p:nvPr/>
        </p:nvSpPr>
        <p:spPr>
          <a:xfrm>
            <a:off x="6217920" y="4334256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定位选择</a:t>
            </a:r>
          </a:p>
        </p:txBody>
      </p:sp>
      <p:sp>
        <p:nvSpPr>
          <p:cNvPr id="33" name="Shape 29"/>
          <p:cNvSpPr/>
          <p:nvPr/>
        </p:nvSpPr>
        <p:spPr>
          <a:xfrm>
            <a:off x="6217920" y="4773168"/>
            <a:ext cx="91440" cy="91440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0"/>
          <p:cNvSpPr/>
          <p:nvPr/>
        </p:nvSpPr>
        <p:spPr>
          <a:xfrm>
            <a:off x="6419088" y="471830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本地个人版，先保证完整闭环</a:t>
            </a:r>
          </a:p>
        </p:txBody>
      </p:sp>
      <p:sp>
        <p:nvSpPr>
          <p:cNvPr id="35" name="Shape 31"/>
          <p:cNvSpPr/>
          <p:nvPr/>
        </p:nvSpPr>
        <p:spPr>
          <a:xfrm>
            <a:off x="6217920" y="5184648"/>
            <a:ext cx="91440" cy="91440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2"/>
          <p:cNvSpPr/>
          <p:nvPr/>
        </p:nvSpPr>
        <p:spPr>
          <a:xfrm>
            <a:off x="6419088" y="512978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保存学习数据，降低部署成本</a:t>
            </a:r>
          </a:p>
        </p:txBody>
      </p:sp>
      <p:sp>
        <p:nvSpPr>
          <p:cNvPr id="37" name="Shape 33"/>
          <p:cNvSpPr/>
          <p:nvPr/>
        </p:nvSpPr>
        <p:spPr>
          <a:xfrm>
            <a:off x="6217920" y="5596128"/>
            <a:ext cx="91440" cy="91440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4"/>
          <p:cNvSpPr/>
          <p:nvPr/>
        </p:nvSpPr>
        <p:spPr>
          <a:xfrm>
            <a:off x="6419088" y="554126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服务端读取 Key，前端专注练习体验</a:t>
            </a:r>
          </a:p>
        </p:txBody>
      </p:sp>
    </p:spTree>
  </p:cSld>
  <p:clrMapOvr>
    <a:masterClrMapping/>
  </p:clrMapOvr>
  <p:transition spd="med">
    <p:split orient="vert"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530352" y="6217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用户流程：一次练习如何留下可复盘的痕迹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1216152"/>
            <a:ext cx="987552" cy="0"/>
          </a:xfrm>
          <a:prstGeom prst="line">
            <a:avLst/>
          </a:prstGeom>
          <a:noFill/>
          <a:ln w="3175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9224" y="1353312"/>
            <a:ext cx="6702552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1676" y="1390015"/>
            <a:ext cx="5681133" cy="42608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571232" y="148132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建模解释</a:t>
            </a:r>
          </a:p>
        </p:txBody>
      </p:sp>
      <p:sp>
        <p:nvSpPr>
          <p:cNvPr id="21" name="Shape 17"/>
          <p:cNvSpPr/>
          <p:nvPr/>
        </p:nvSpPr>
        <p:spPr>
          <a:xfrm>
            <a:off x="7571232" y="1920240"/>
            <a:ext cx="91440" cy="91440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7772400" y="1910715"/>
            <a:ext cx="4058920" cy="15621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从学习者目标出发抽取系统必须提供的能力</a:t>
            </a:r>
          </a:p>
        </p:txBody>
      </p:sp>
      <p:sp>
        <p:nvSpPr>
          <p:cNvPr id="23" name="Shape 19"/>
          <p:cNvSpPr/>
          <p:nvPr/>
        </p:nvSpPr>
        <p:spPr>
          <a:xfrm>
            <a:off x="7571232" y="2331720"/>
            <a:ext cx="91440" cy="91440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0"/>
          <p:cNvSpPr/>
          <p:nvPr/>
        </p:nvSpPr>
        <p:spPr>
          <a:xfrm>
            <a:off x="7772400" y="2277110"/>
            <a:ext cx="4377690" cy="2006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MaaS 标成外部</a:t>
            </a:r>
            <a:r>
              <a:rPr lang="zh-CN" alt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</a:t>
            </a: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，避免</a:t>
            </a:r>
            <a:r>
              <a:rPr lang="zh-CN" alt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混淆</a:t>
            </a: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外部服务</a:t>
            </a:r>
            <a:r>
              <a:rPr lang="zh-CN" alt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</a:t>
            </a: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本地功能</a:t>
            </a:r>
          </a:p>
        </p:txBody>
      </p:sp>
      <p:sp>
        <p:nvSpPr>
          <p:cNvPr id="25" name="Shape 21"/>
          <p:cNvSpPr/>
          <p:nvPr/>
        </p:nvSpPr>
        <p:spPr>
          <a:xfrm>
            <a:off x="7571232" y="2743200"/>
            <a:ext cx="91440" cy="91440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7772400" y="2688590"/>
            <a:ext cx="4073525" cy="2216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用系统边界区分“本应用负责”和“外部服务负责”</a:t>
            </a:r>
          </a:p>
        </p:txBody>
      </p:sp>
      <p:sp>
        <p:nvSpPr>
          <p:cNvPr id="27" name="Shape 23"/>
          <p:cNvSpPr/>
          <p:nvPr/>
        </p:nvSpPr>
        <p:spPr>
          <a:xfrm>
            <a:off x="7571232" y="3154680"/>
            <a:ext cx="91440" cy="91440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7772400" y="3100070"/>
            <a:ext cx="4377055" cy="2019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本页把产品主流程从“功能展示”提升为“需求模型”</a:t>
            </a:r>
          </a:p>
        </p:txBody>
      </p:sp>
      <p:sp>
        <p:nvSpPr>
          <p:cNvPr id="29" name="Shape 25"/>
          <p:cNvSpPr/>
          <p:nvPr/>
        </p:nvSpPr>
        <p:spPr>
          <a:xfrm>
            <a:off x="7635240" y="4434840"/>
            <a:ext cx="1234440" cy="256032"/>
          </a:xfrm>
          <a:prstGeom prst="rect">
            <a:avLst/>
          </a:prstGeom>
          <a:solidFill>
            <a:srgbClr val="235448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6"/>
          <p:cNvSpPr/>
          <p:nvPr/>
        </p:nvSpPr>
        <p:spPr>
          <a:xfrm>
            <a:off x="7708392" y="4530852"/>
            <a:ext cx="108813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模型元素</a:t>
            </a:r>
          </a:p>
        </p:txBody>
      </p:sp>
      <p:sp>
        <p:nvSpPr>
          <p:cNvPr id="31" name="Shape 27"/>
          <p:cNvSpPr/>
          <p:nvPr/>
        </p:nvSpPr>
        <p:spPr>
          <a:xfrm>
            <a:off x="8869680" y="4434840"/>
            <a:ext cx="2286000" cy="256032"/>
          </a:xfrm>
          <a:prstGeom prst="rect">
            <a:avLst/>
          </a:prstGeom>
          <a:solidFill>
            <a:srgbClr val="235448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8"/>
          <p:cNvSpPr/>
          <p:nvPr/>
        </p:nvSpPr>
        <p:spPr>
          <a:xfrm>
            <a:off x="8942832" y="4530852"/>
            <a:ext cx="213969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在项目中的含义</a:t>
            </a:r>
          </a:p>
        </p:txBody>
      </p:sp>
      <p:sp>
        <p:nvSpPr>
          <p:cNvPr id="33" name="Shape 29"/>
          <p:cNvSpPr/>
          <p:nvPr/>
        </p:nvSpPr>
        <p:spPr>
          <a:xfrm>
            <a:off x="7635240" y="4690872"/>
            <a:ext cx="123444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0"/>
          <p:cNvSpPr/>
          <p:nvPr/>
        </p:nvSpPr>
        <p:spPr>
          <a:xfrm>
            <a:off x="7708392" y="4786884"/>
            <a:ext cx="108813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参与者</a:t>
            </a:r>
          </a:p>
        </p:txBody>
      </p:sp>
      <p:sp>
        <p:nvSpPr>
          <p:cNvPr id="35" name="Shape 31"/>
          <p:cNvSpPr/>
          <p:nvPr/>
        </p:nvSpPr>
        <p:spPr>
          <a:xfrm>
            <a:off x="8869680" y="4690872"/>
            <a:ext cx="22860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2"/>
          <p:cNvSpPr/>
          <p:nvPr/>
        </p:nvSpPr>
        <p:spPr>
          <a:xfrm>
            <a:off x="8942832" y="4786884"/>
            <a:ext cx="213969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学习者 / MaaS 服务</a:t>
            </a:r>
          </a:p>
        </p:txBody>
      </p:sp>
      <p:sp>
        <p:nvSpPr>
          <p:cNvPr id="37" name="Shape 33"/>
          <p:cNvSpPr/>
          <p:nvPr/>
        </p:nvSpPr>
        <p:spPr>
          <a:xfrm>
            <a:off x="7635240" y="4946904"/>
            <a:ext cx="1234440" cy="256032"/>
          </a:xfrm>
          <a:prstGeom prst="rect">
            <a:avLst/>
          </a:prstGeom>
          <a:solidFill>
            <a:srgbClr val="F0F8F1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4"/>
          <p:cNvSpPr/>
          <p:nvPr/>
        </p:nvSpPr>
        <p:spPr>
          <a:xfrm>
            <a:off x="7708392" y="5042916"/>
            <a:ext cx="108813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系统边界</a:t>
            </a:r>
          </a:p>
        </p:txBody>
      </p:sp>
      <p:sp>
        <p:nvSpPr>
          <p:cNvPr id="39" name="Shape 35"/>
          <p:cNvSpPr/>
          <p:nvPr/>
        </p:nvSpPr>
        <p:spPr>
          <a:xfrm>
            <a:off x="8869680" y="4946904"/>
            <a:ext cx="2286000" cy="256032"/>
          </a:xfrm>
          <a:prstGeom prst="rect">
            <a:avLst/>
          </a:prstGeom>
          <a:solidFill>
            <a:srgbClr val="F0F8F1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6"/>
          <p:cNvSpPr/>
          <p:nvPr/>
        </p:nvSpPr>
        <p:spPr>
          <a:xfrm>
            <a:off x="8942832" y="5042916"/>
            <a:ext cx="213969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本地练习工作室</a:t>
            </a:r>
          </a:p>
        </p:txBody>
      </p:sp>
      <p:sp>
        <p:nvSpPr>
          <p:cNvPr id="41" name="Shape 37"/>
          <p:cNvSpPr/>
          <p:nvPr/>
        </p:nvSpPr>
        <p:spPr>
          <a:xfrm>
            <a:off x="7635240" y="5202936"/>
            <a:ext cx="123444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8"/>
          <p:cNvSpPr/>
          <p:nvPr/>
        </p:nvSpPr>
        <p:spPr>
          <a:xfrm>
            <a:off x="7708392" y="5298948"/>
            <a:ext cx="108813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用例</a:t>
            </a:r>
          </a:p>
        </p:txBody>
      </p:sp>
      <p:sp>
        <p:nvSpPr>
          <p:cNvPr id="43" name="Shape 39"/>
          <p:cNvSpPr/>
          <p:nvPr/>
        </p:nvSpPr>
        <p:spPr>
          <a:xfrm>
            <a:off x="8869680" y="5202936"/>
            <a:ext cx="22860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0"/>
          <p:cNvSpPr/>
          <p:nvPr/>
        </p:nvSpPr>
        <p:spPr>
          <a:xfrm>
            <a:off x="8942832" y="5298948"/>
            <a:ext cx="213969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生成、练习、解析、错题、统计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530352" y="6217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63931"/>
                </a:solidFill>
                <a:latin typeface="Noto Sans CJK SC"/>
              </a:rPr>
              <a:t>开发方法：先让需求可审阅，再让实现可验收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1216152"/>
            <a:ext cx="987552" cy="0"/>
          </a:xfrm>
          <a:prstGeom prst="line">
            <a:avLst/>
          </a:prstGeom>
          <a:noFill/>
          <a:ln w="3175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900" dirty="0"/>
          </a:p>
        </p:txBody>
      </p:sp>
      <p:sp>
        <p:nvSpPr>
          <p:cNvPr id="14" name="TextBox"/>
          <p:cNvSpPr txBox="1"/>
          <p:nvPr/>
        </p:nvSpPr>
        <p:spPr>
          <a:xfrm>
            <a:off x="713232" y="1444752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379176"/>
                </a:solidFill>
                <a:latin typeface="Noto Sans CJK SC"/>
              </a:rPr>
              <a:t>四个工程原则</a:t>
            </a:r>
          </a:p>
        </p:txBody>
      </p:sp>
      <p:sp>
        <p:nvSpPr>
          <p:cNvPr id="15" name="principle_0"/>
          <p:cNvSpPr/>
          <p:nvPr/>
        </p:nvSpPr>
        <p:spPr>
          <a:xfrm>
            <a:off x="713232" y="1847088"/>
            <a:ext cx="2788920" cy="658368"/>
          </a:xfrm>
          <a:prstGeom prst="roundRect">
            <a:avLst/>
          </a:prstGeom>
          <a:solidFill>
            <a:srgbClr val="EBF7F0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914273" y="2026666"/>
            <a:ext cx="123444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50" b="1">
                <a:solidFill>
                  <a:srgbClr val="379176"/>
                </a:solidFill>
                <a:latin typeface="Noto Sans CJK SC"/>
              </a:rPr>
              <a:t>需求先行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2029968" y="1938655"/>
            <a:ext cx="1243584" cy="466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>
                <a:solidFill>
                  <a:srgbClr val="163931"/>
                </a:solidFill>
                <a:latin typeface="Noto Sans CJK SC"/>
              </a:rPr>
              <a:t>先写清楚要解决什么</a:t>
            </a:r>
          </a:p>
        </p:txBody>
      </p:sp>
      <p:sp>
        <p:nvSpPr>
          <p:cNvPr id="18" name="principle_1"/>
          <p:cNvSpPr/>
          <p:nvPr/>
        </p:nvSpPr>
        <p:spPr>
          <a:xfrm>
            <a:off x="713232" y="2642616"/>
            <a:ext cx="2788920" cy="658368"/>
          </a:xfrm>
          <a:prstGeom prst="roundRect">
            <a:avLst/>
          </a:prstGeom>
          <a:solidFill>
            <a:srgbClr val="EBF7F0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"/>
          <p:cNvSpPr txBox="1"/>
          <p:nvPr/>
        </p:nvSpPr>
        <p:spPr>
          <a:xfrm>
            <a:off x="914273" y="2853309"/>
            <a:ext cx="123444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50" b="1">
                <a:solidFill>
                  <a:srgbClr val="5B87EB"/>
                </a:solidFill>
                <a:latin typeface="Noto Sans CJK SC"/>
              </a:rPr>
              <a:t>边界明确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2029968" y="2724658"/>
            <a:ext cx="1243584" cy="466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>
                <a:solidFill>
                  <a:srgbClr val="163931"/>
                </a:solidFill>
                <a:latin typeface="Noto Sans CJK SC"/>
              </a:rPr>
              <a:t>不临时加入登录 / 云同步</a:t>
            </a:r>
          </a:p>
        </p:txBody>
      </p:sp>
      <p:sp>
        <p:nvSpPr>
          <p:cNvPr id="21" name="principle_2"/>
          <p:cNvSpPr/>
          <p:nvPr/>
        </p:nvSpPr>
        <p:spPr>
          <a:xfrm>
            <a:off x="713232" y="3438144"/>
            <a:ext cx="2788920" cy="658368"/>
          </a:xfrm>
          <a:prstGeom prst="roundRect">
            <a:avLst/>
          </a:prstGeom>
          <a:solidFill>
            <a:srgbClr val="EBF7F0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"/>
          <p:cNvSpPr txBox="1"/>
          <p:nvPr/>
        </p:nvSpPr>
        <p:spPr>
          <a:xfrm>
            <a:off x="914273" y="3703447"/>
            <a:ext cx="123444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50" b="1">
                <a:solidFill>
                  <a:srgbClr val="F5A55B"/>
                </a:solidFill>
                <a:latin typeface="Noto Sans CJK SC"/>
              </a:rPr>
              <a:t>小步实现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2029968" y="3557016"/>
            <a:ext cx="1243584" cy="466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>
                <a:solidFill>
                  <a:srgbClr val="163931"/>
                </a:solidFill>
                <a:latin typeface="Noto Sans CJK SC"/>
              </a:rPr>
              <a:t>T01–T22 按任务推进</a:t>
            </a:r>
          </a:p>
        </p:txBody>
      </p:sp>
      <p:sp>
        <p:nvSpPr>
          <p:cNvPr id="24" name="principle_3"/>
          <p:cNvSpPr/>
          <p:nvPr/>
        </p:nvSpPr>
        <p:spPr>
          <a:xfrm>
            <a:off x="713232" y="4233672"/>
            <a:ext cx="2788920" cy="658368"/>
          </a:xfrm>
          <a:prstGeom prst="roundRect">
            <a:avLst/>
          </a:prstGeom>
          <a:solidFill>
            <a:srgbClr val="EBF7F0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"/>
          <p:cNvSpPr txBox="1"/>
          <p:nvPr/>
        </p:nvSpPr>
        <p:spPr>
          <a:xfrm>
            <a:off x="831723" y="4389120"/>
            <a:ext cx="123444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50" b="1">
                <a:solidFill>
                  <a:srgbClr val="E87D8B"/>
                </a:solidFill>
                <a:latin typeface="Noto Sans CJK SC"/>
              </a:rPr>
              <a:t>可验收记录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2029968" y="4329684"/>
            <a:ext cx="1243584" cy="466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>
                <a:solidFill>
                  <a:srgbClr val="163931"/>
                </a:solidFill>
                <a:latin typeface="Noto Sans CJK SC"/>
              </a:rPr>
              <a:t>PASS / FAIL 都落到文档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4069080" y="1444752"/>
            <a:ext cx="43891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100" b="1">
                <a:solidFill>
                  <a:srgbClr val="163931"/>
                </a:solidFill>
                <a:latin typeface="Noto Sans CJK SC"/>
              </a:rPr>
              <a:t>从“想法”到“证据”的 5 个闸门</a:t>
            </a:r>
          </a:p>
        </p:txBody>
      </p:sp>
      <p:sp>
        <p:nvSpPr>
          <p:cNvPr id="28" name="gate_0"/>
          <p:cNvSpPr/>
          <p:nvPr/>
        </p:nvSpPr>
        <p:spPr>
          <a:xfrm>
            <a:off x="3886200" y="1938528"/>
            <a:ext cx="11704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"/>
          <p:cNvSpPr txBox="1"/>
          <p:nvPr/>
        </p:nvSpPr>
        <p:spPr>
          <a:xfrm>
            <a:off x="3959352" y="2057400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379176"/>
                </a:solidFill>
                <a:latin typeface="Noto Sans CJK SC"/>
              </a:rPr>
              <a:t>Gate 1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3959352" y="2377440"/>
            <a:ext cx="1024128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163931"/>
                </a:solidFill>
                <a:latin typeface="Noto Sans CJK SC"/>
              </a:rPr>
              <a:t>spec.md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3959352" y="2724912"/>
            <a:ext cx="10058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>
                <a:solidFill>
                  <a:srgbClr val="5C6E68"/>
                </a:solidFill>
                <a:latin typeface="Noto Sans CJK SC"/>
              </a:rPr>
              <a:t>规格审阅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111496" y="2377440"/>
            <a:ext cx="301752" cy="329184"/>
          </a:xfrm>
          <a:prstGeom prst="rightArrow">
            <a:avLst/>
          </a:prstGeom>
          <a:solidFill>
            <a:srgbClr val="DBF3E9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gate_1"/>
          <p:cNvSpPr/>
          <p:nvPr/>
        </p:nvSpPr>
        <p:spPr>
          <a:xfrm>
            <a:off x="5458968" y="1938528"/>
            <a:ext cx="11704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"/>
          <p:cNvSpPr txBox="1"/>
          <p:nvPr/>
        </p:nvSpPr>
        <p:spPr>
          <a:xfrm>
            <a:off x="5532120" y="2057400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379176"/>
                </a:solidFill>
                <a:latin typeface="Noto Sans CJK SC"/>
              </a:rPr>
              <a:t>Gate 2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5532120" y="2377440"/>
            <a:ext cx="1024128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163931"/>
                </a:solidFill>
                <a:latin typeface="Noto Sans CJK SC"/>
              </a:rPr>
              <a:t>design.md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5532120" y="2724912"/>
            <a:ext cx="10058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>
                <a:solidFill>
                  <a:srgbClr val="5C6E68"/>
                </a:solidFill>
                <a:latin typeface="Noto Sans CJK SC"/>
              </a:rPr>
              <a:t>设计转换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684264" y="2377440"/>
            <a:ext cx="301752" cy="329184"/>
          </a:xfrm>
          <a:prstGeom prst="rightArrow">
            <a:avLst/>
          </a:prstGeom>
          <a:solidFill>
            <a:srgbClr val="DBF3E9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gate_2"/>
          <p:cNvSpPr/>
          <p:nvPr/>
        </p:nvSpPr>
        <p:spPr>
          <a:xfrm>
            <a:off x="7031736" y="1938528"/>
            <a:ext cx="11704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"/>
          <p:cNvSpPr txBox="1"/>
          <p:nvPr/>
        </p:nvSpPr>
        <p:spPr>
          <a:xfrm>
            <a:off x="7104888" y="2057400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379176"/>
                </a:solidFill>
                <a:latin typeface="Noto Sans CJK SC"/>
              </a:rPr>
              <a:t>Gate 3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7104888" y="2377440"/>
            <a:ext cx="1024128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163931"/>
                </a:solidFill>
                <a:latin typeface="Noto Sans CJK SC"/>
              </a:rPr>
              <a:t>tasks.md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7104888" y="2724912"/>
            <a:ext cx="10058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>
                <a:solidFill>
                  <a:srgbClr val="5C6E68"/>
                </a:solidFill>
                <a:latin typeface="Noto Sans CJK SC"/>
              </a:rPr>
              <a:t>任务拆解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257031" y="2377440"/>
            <a:ext cx="301752" cy="329184"/>
          </a:xfrm>
          <a:prstGeom prst="rightArrow">
            <a:avLst/>
          </a:prstGeom>
          <a:solidFill>
            <a:srgbClr val="DBF3E9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gate_3"/>
          <p:cNvSpPr/>
          <p:nvPr/>
        </p:nvSpPr>
        <p:spPr>
          <a:xfrm>
            <a:off x="8604504" y="1938528"/>
            <a:ext cx="11704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"/>
          <p:cNvSpPr txBox="1"/>
          <p:nvPr/>
        </p:nvSpPr>
        <p:spPr>
          <a:xfrm>
            <a:off x="8677656" y="2057400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379176"/>
                </a:solidFill>
                <a:latin typeface="Noto Sans CJK SC"/>
              </a:rPr>
              <a:t>Gate 4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8677656" y="2377440"/>
            <a:ext cx="1024128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163931"/>
                </a:solidFill>
                <a:latin typeface="Noto Sans CJK SC"/>
              </a:rPr>
              <a:t>实现推进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8677656" y="2724912"/>
            <a:ext cx="10058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>
                <a:solidFill>
                  <a:srgbClr val="5C6E68"/>
                </a:solidFill>
                <a:latin typeface="Noto Sans CJK SC"/>
              </a:rPr>
              <a:t>小步开发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9829800" y="2377440"/>
            <a:ext cx="301752" cy="329184"/>
          </a:xfrm>
          <a:prstGeom prst="rightArrow">
            <a:avLst/>
          </a:prstGeom>
          <a:solidFill>
            <a:srgbClr val="DBF3E9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gate_4"/>
          <p:cNvSpPr/>
          <p:nvPr/>
        </p:nvSpPr>
        <p:spPr>
          <a:xfrm>
            <a:off x="10177272" y="1938528"/>
            <a:ext cx="11704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"/>
          <p:cNvSpPr txBox="1"/>
          <p:nvPr/>
        </p:nvSpPr>
        <p:spPr>
          <a:xfrm>
            <a:off x="10250424" y="2057400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379176"/>
                </a:solidFill>
                <a:latin typeface="Noto Sans CJK SC"/>
              </a:rPr>
              <a:t>Gate 5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10250424" y="2377440"/>
            <a:ext cx="1024128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163931"/>
                </a:solidFill>
                <a:latin typeface="Noto Sans CJK SC"/>
              </a:rPr>
              <a:t>验收记录</a:t>
            </a:r>
          </a:p>
        </p:txBody>
      </p:sp>
      <p:sp>
        <p:nvSpPr>
          <p:cNvPr id="51" name="TextBox"/>
          <p:cNvSpPr txBox="1"/>
          <p:nvPr/>
        </p:nvSpPr>
        <p:spPr>
          <a:xfrm>
            <a:off x="10250424" y="2724912"/>
            <a:ext cx="10058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>
                <a:solidFill>
                  <a:srgbClr val="5C6E68"/>
                </a:solidFill>
                <a:latin typeface="Noto Sans CJK SC"/>
              </a:rPr>
              <a:t>PASS/FAIL</a:t>
            </a:r>
          </a:p>
        </p:txBody>
      </p:sp>
      <p:sp>
        <p:nvSpPr>
          <p:cNvPr id="52" name="slide6_summary"/>
          <p:cNvSpPr/>
          <p:nvPr/>
        </p:nvSpPr>
        <p:spPr>
          <a:xfrm>
            <a:off x="3886200" y="3611880"/>
            <a:ext cx="7269480" cy="1261872"/>
          </a:xfrm>
          <a:prstGeom prst="roundRect">
            <a:avLst/>
          </a:prstGeom>
          <a:solidFill>
            <a:srgbClr val="DBF3E9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"/>
          <p:cNvSpPr txBox="1"/>
          <p:nvPr/>
        </p:nvSpPr>
        <p:spPr>
          <a:xfrm>
            <a:off x="4068952" y="4132325"/>
            <a:ext cx="1051560" cy="3124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b="1">
                <a:solidFill>
                  <a:srgbClr val="379176"/>
                </a:solidFill>
                <a:latin typeface="Noto Sans CJK SC"/>
              </a:rPr>
              <a:t>核心变化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5120640" y="3941445"/>
            <a:ext cx="5650992" cy="65087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63931"/>
                </a:solidFill>
                <a:latin typeface="Noto Sans CJK SC"/>
              </a:rPr>
              <a:t>不是直接堆页面，而是先约定范围、数据、接口、安全与验收标准；每一步都有文档出口</a:t>
            </a:r>
            <a:r>
              <a:rPr lang="zh-CN" sz="2000" b="1">
                <a:solidFill>
                  <a:srgbClr val="163931"/>
                </a:solidFill>
                <a:latin typeface="Noto Sans CJK SC"/>
              </a:rPr>
              <a:t>。</a:t>
            </a:r>
          </a:p>
        </p:txBody>
      </p:sp>
      <p:sp>
        <p:nvSpPr>
          <p:cNvPr id="55" name="TextBox"/>
          <p:cNvSpPr txBox="1"/>
          <p:nvPr/>
        </p:nvSpPr>
        <p:spPr>
          <a:xfrm>
            <a:off x="4069080" y="5445125"/>
            <a:ext cx="6702425" cy="3429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63931"/>
                </a:solidFill>
                <a:latin typeface="Noto Sans CJK SC"/>
              </a:rPr>
              <a:t>文档不是形式，它让项目修改更可控、汇报更有说服力。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9225" y="37465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 rot="1500000">
            <a:off x="9933305" y="-1105535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 rot="-960000">
            <a:off x="-628015" y="5523865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2145" y="238633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16737" y="238633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81329" y="238633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921" y="238633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9577" y="357505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679577" y="659257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63931"/>
                </a:solidFill>
                <a:latin typeface="Noto Sans CJK SC"/>
              </a:rPr>
              <a:t>需求到实现：四份文档把开发链路串起来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97865" y="1253617"/>
            <a:ext cx="987552" cy="0"/>
          </a:xfrm>
          <a:prstGeom prst="line">
            <a:avLst/>
          </a:prstGeom>
          <a:noFill/>
          <a:ln w="3175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259185" y="6456553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900" dirty="0"/>
          </a:p>
        </p:txBody>
      </p:sp>
      <p:sp>
        <p:nvSpPr>
          <p:cNvPr id="14" name="doc_card_0"/>
          <p:cNvSpPr/>
          <p:nvPr>
            <p:custDataLst>
              <p:tags r:id="rId1"/>
            </p:custDataLst>
          </p:nvPr>
        </p:nvSpPr>
        <p:spPr>
          <a:xfrm>
            <a:off x="899033" y="1454785"/>
            <a:ext cx="24231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c_header_0"/>
          <p:cNvSpPr/>
          <p:nvPr>
            <p:custDataLst>
              <p:tags r:id="rId2"/>
            </p:custDataLst>
          </p:nvPr>
        </p:nvSpPr>
        <p:spPr>
          <a:xfrm>
            <a:off x="1063625" y="1610233"/>
            <a:ext cx="2084831" cy="438912"/>
          </a:xfrm>
          <a:prstGeom prst="roundRect">
            <a:avLst/>
          </a:prstGeom>
          <a:solidFill>
            <a:srgbClr val="379176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"/>
          <p:cNvSpPr txBox="1"/>
          <p:nvPr>
            <p:custDataLst>
              <p:tags r:id="rId3"/>
            </p:custDataLst>
          </p:nvPr>
        </p:nvSpPr>
        <p:spPr>
          <a:xfrm>
            <a:off x="1173352" y="1710817"/>
            <a:ext cx="1874519" cy="2813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spec.md</a:t>
            </a:r>
          </a:p>
        </p:txBody>
      </p:sp>
      <p:sp>
        <p:nvSpPr>
          <p:cNvPr id="17" name="TextBox"/>
          <p:cNvSpPr txBox="1"/>
          <p:nvPr>
            <p:custDataLst>
              <p:tags r:id="rId4"/>
            </p:custDataLst>
          </p:nvPr>
        </p:nvSpPr>
        <p:spPr>
          <a:xfrm>
            <a:off x="1127632" y="2213737"/>
            <a:ext cx="1965960" cy="3124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b="1">
                <a:solidFill>
                  <a:srgbClr val="379176"/>
                </a:solidFill>
                <a:latin typeface="Noto Sans CJK SC"/>
              </a:rPr>
              <a:t>先限定范围</a:t>
            </a:r>
          </a:p>
        </p:txBody>
      </p:sp>
      <p:sp>
        <p:nvSpPr>
          <p:cNvPr id="18" name="Multiline"/>
          <p:cNvSpPr txBox="1"/>
          <p:nvPr>
            <p:custDataLst>
              <p:tags r:id="rId5"/>
            </p:custDataLst>
          </p:nvPr>
        </p:nvSpPr>
        <p:spPr>
          <a:xfrm>
            <a:off x="981075" y="2743835"/>
            <a:ext cx="2345055" cy="686435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163931"/>
                </a:solidFill>
                <a:latin typeface="Noto Sans CJK SC"/>
              </a:rPr>
              <a:t>解决：要做什么 / 不做什么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63931"/>
                </a:solidFill>
                <a:latin typeface="Noto Sans CJK SC"/>
              </a:rPr>
              <a:t>沉淀：功能需求、非功能需求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63931"/>
                </a:solidFill>
                <a:latin typeface="Noto Sans CJK SC"/>
              </a:rPr>
              <a:t>出口：验收标准可审阅</a:t>
            </a:r>
          </a:p>
        </p:txBody>
      </p:sp>
      <p:sp>
        <p:nvSpPr>
          <p:cNvPr id="19" name="Circle"/>
          <p:cNvSpPr/>
          <p:nvPr>
            <p:custDataLst>
              <p:tags r:id="rId6"/>
            </p:custDataLst>
          </p:nvPr>
        </p:nvSpPr>
        <p:spPr>
          <a:xfrm>
            <a:off x="1063625" y="3612769"/>
            <a:ext cx="310896" cy="310896"/>
          </a:xfrm>
          <a:prstGeom prst="ellipse">
            <a:avLst/>
          </a:prstGeom>
          <a:solidFill>
            <a:srgbClr val="379176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"/>
          <p:cNvSpPr txBox="1"/>
          <p:nvPr>
            <p:custDataLst>
              <p:tags r:id="rId7"/>
            </p:custDataLst>
          </p:nvPr>
        </p:nvSpPr>
        <p:spPr>
          <a:xfrm>
            <a:off x="1063625" y="3695065"/>
            <a:ext cx="310896" cy="1371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21" name="Right Arrow 20"/>
          <p:cNvSpPr/>
          <p:nvPr>
            <p:custDataLst>
              <p:tags r:id="rId8"/>
            </p:custDataLst>
          </p:nvPr>
        </p:nvSpPr>
        <p:spPr>
          <a:xfrm>
            <a:off x="3404489" y="2433193"/>
            <a:ext cx="347472" cy="310896"/>
          </a:xfrm>
          <a:prstGeom prst="rightArrow">
            <a:avLst/>
          </a:prstGeom>
          <a:solidFill>
            <a:srgbClr val="DBF3E9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c_card_1"/>
          <p:cNvSpPr/>
          <p:nvPr>
            <p:custDataLst>
              <p:tags r:id="rId9"/>
            </p:custDataLst>
          </p:nvPr>
        </p:nvSpPr>
        <p:spPr>
          <a:xfrm>
            <a:off x="3761105" y="1454785"/>
            <a:ext cx="24231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oc_header_1"/>
          <p:cNvSpPr/>
          <p:nvPr>
            <p:custDataLst>
              <p:tags r:id="rId10"/>
            </p:custDataLst>
          </p:nvPr>
        </p:nvSpPr>
        <p:spPr>
          <a:xfrm>
            <a:off x="3925697" y="1610233"/>
            <a:ext cx="2084831" cy="438912"/>
          </a:xfrm>
          <a:prstGeom prst="roundRect">
            <a:avLst/>
          </a:prstGeom>
          <a:solidFill>
            <a:srgbClr val="5B87EB"/>
          </a:solidFill>
          <a:ln w="12700">
            <a:solidFill>
              <a:srgbClr val="5B8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"/>
          <p:cNvSpPr txBox="1"/>
          <p:nvPr>
            <p:custDataLst>
              <p:tags r:id="rId11"/>
            </p:custDataLst>
          </p:nvPr>
        </p:nvSpPr>
        <p:spPr>
          <a:xfrm>
            <a:off x="4035425" y="1710817"/>
            <a:ext cx="1874519" cy="2813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design.md</a:t>
            </a:r>
          </a:p>
        </p:txBody>
      </p:sp>
      <p:sp>
        <p:nvSpPr>
          <p:cNvPr id="25" name="TextBox"/>
          <p:cNvSpPr txBox="1"/>
          <p:nvPr>
            <p:custDataLst>
              <p:tags r:id="rId12"/>
            </p:custDataLst>
          </p:nvPr>
        </p:nvSpPr>
        <p:spPr>
          <a:xfrm>
            <a:off x="3989705" y="2213737"/>
            <a:ext cx="1965960" cy="3124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b="1">
                <a:solidFill>
                  <a:srgbClr val="5B87EB"/>
                </a:solidFill>
                <a:latin typeface="Noto Sans CJK SC"/>
              </a:rPr>
              <a:t>再转换方案</a:t>
            </a:r>
          </a:p>
        </p:txBody>
      </p:sp>
      <p:sp>
        <p:nvSpPr>
          <p:cNvPr id="26" name="Multiline"/>
          <p:cNvSpPr txBox="1"/>
          <p:nvPr>
            <p:custDataLst>
              <p:tags r:id="rId13"/>
            </p:custDataLst>
          </p:nvPr>
        </p:nvSpPr>
        <p:spPr>
          <a:xfrm>
            <a:off x="3788410" y="2743835"/>
            <a:ext cx="2265045" cy="686435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163931"/>
                </a:solidFill>
                <a:latin typeface="Noto Sans CJK SC"/>
              </a:rPr>
              <a:t>解决：怎么做出来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63931"/>
                </a:solidFill>
                <a:latin typeface="Noto Sans CJK SC"/>
              </a:rPr>
              <a:t>沉淀：页面、接口、数据模型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63931"/>
                </a:solidFill>
                <a:latin typeface="Noto Sans CJK SC"/>
              </a:rPr>
              <a:t>出口：实现边界清楚</a:t>
            </a:r>
          </a:p>
        </p:txBody>
      </p:sp>
      <p:sp>
        <p:nvSpPr>
          <p:cNvPr id="27" name="Circle"/>
          <p:cNvSpPr/>
          <p:nvPr>
            <p:custDataLst>
              <p:tags r:id="rId14"/>
            </p:custDataLst>
          </p:nvPr>
        </p:nvSpPr>
        <p:spPr>
          <a:xfrm>
            <a:off x="3925697" y="3612769"/>
            <a:ext cx="310896" cy="310896"/>
          </a:xfrm>
          <a:prstGeom prst="ellipse">
            <a:avLst/>
          </a:prstGeom>
          <a:solidFill>
            <a:srgbClr val="5B87EB"/>
          </a:solidFill>
          <a:ln w="12700">
            <a:solidFill>
              <a:srgbClr val="5B8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"/>
          <p:cNvSpPr txBox="1"/>
          <p:nvPr>
            <p:custDataLst>
              <p:tags r:id="rId15"/>
            </p:custDataLst>
          </p:nvPr>
        </p:nvSpPr>
        <p:spPr>
          <a:xfrm>
            <a:off x="3925697" y="3695065"/>
            <a:ext cx="310896" cy="1371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29" name="Right Arrow 28"/>
          <p:cNvSpPr/>
          <p:nvPr>
            <p:custDataLst>
              <p:tags r:id="rId16"/>
            </p:custDataLst>
          </p:nvPr>
        </p:nvSpPr>
        <p:spPr>
          <a:xfrm>
            <a:off x="6266561" y="2433193"/>
            <a:ext cx="347472" cy="310896"/>
          </a:xfrm>
          <a:prstGeom prst="rightArrow">
            <a:avLst/>
          </a:prstGeom>
          <a:solidFill>
            <a:srgbClr val="DBF3E9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oc_card_2"/>
          <p:cNvSpPr/>
          <p:nvPr>
            <p:custDataLst>
              <p:tags r:id="rId17"/>
            </p:custDataLst>
          </p:nvPr>
        </p:nvSpPr>
        <p:spPr>
          <a:xfrm>
            <a:off x="6623177" y="1454785"/>
            <a:ext cx="24231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doc_header_2"/>
          <p:cNvSpPr/>
          <p:nvPr>
            <p:custDataLst>
              <p:tags r:id="rId18"/>
            </p:custDataLst>
          </p:nvPr>
        </p:nvSpPr>
        <p:spPr>
          <a:xfrm>
            <a:off x="6787769" y="1610233"/>
            <a:ext cx="2084831" cy="438912"/>
          </a:xfrm>
          <a:prstGeom prst="roundRect">
            <a:avLst/>
          </a:prstGeom>
          <a:solidFill>
            <a:srgbClr val="F5A55B"/>
          </a:solidFill>
          <a:ln w="12700">
            <a:solidFill>
              <a:srgbClr val="F5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"/>
          <p:cNvSpPr txBox="1"/>
          <p:nvPr>
            <p:custDataLst>
              <p:tags r:id="rId19"/>
            </p:custDataLst>
          </p:nvPr>
        </p:nvSpPr>
        <p:spPr>
          <a:xfrm>
            <a:off x="6897497" y="1710817"/>
            <a:ext cx="1874519" cy="2813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tasks.md</a:t>
            </a:r>
          </a:p>
        </p:txBody>
      </p:sp>
      <p:sp>
        <p:nvSpPr>
          <p:cNvPr id="33" name="TextBox"/>
          <p:cNvSpPr txBox="1"/>
          <p:nvPr>
            <p:custDataLst>
              <p:tags r:id="rId20"/>
            </p:custDataLst>
          </p:nvPr>
        </p:nvSpPr>
        <p:spPr>
          <a:xfrm>
            <a:off x="6851777" y="2213737"/>
            <a:ext cx="1965960" cy="3124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b="1">
                <a:solidFill>
                  <a:srgbClr val="F5A55B"/>
                </a:solidFill>
                <a:latin typeface="Noto Sans CJK SC"/>
              </a:rPr>
              <a:t>再拆成任务</a:t>
            </a:r>
          </a:p>
        </p:txBody>
      </p:sp>
      <p:sp>
        <p:nvSpPr>
          <p:cNvPr id="34" name="Multiline"/>
          <p:cNvSpPr txBox="1"/>
          <p:nvPr>
            <p:custDataLst>
              <p:tags r:id="rId21"/>
            </p:custDataLst>
          </p:nvPr>
        </p:nvSpPr>
        <p:spPr>
          <a:xfrm>
            <a:off x="6787515" y="2743835"/>
            <a:ext cx="2239010" cy="686435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163931"/>
                </a:solidFill>
                <a:latin typeface="Noto Sans CJK SC"/>
              </a:rPr>
              <a:t>解决：按什么顺序推进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63931"/>
                </a:solidFill>
                <a:latin typeface="Noto Sans CJK SC"/>
              </a:rPr>
              <a:t>沉淀：T01–T22 小步清单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63931"/>
                </a:solidFill>
                <a:latin typeface="Noto Sans CJK SC"/>
              </a:rPr>
              <a:t>出口：任务状态可跟踪</a:t>
            </a:r>
          </a:p>
        </p:txBody>
      </p:sp>
      <p:sp>
        <p:nvSpPr>
          <p:cNvPr id="35" name="Circle"/>
          <p:cNvSpPr/>
          <p:nvPr>
            <p:custDataLst>
              <p:tags r:id="rId22"/>
            </p:custDataLst>
          </p:nvPr>
        </p:nvSpPr>
        <p:spPr>
          <a:xfrm>
            <a:off x="6787769" y="3612769"/>
            <a:ext cx="310896" cy="310896"/>
          </a:xfrm>
          <a:prstGeom prst="ellipse">
            <a:avLst/>
          </a:prstGeom>
          <a:solidFill>
            <a:srgbClr val="F5A55B"/>
          </a:solidFill>
          <a:ln w="12700">
            <a:solidFill>
              <a:srgbClr val="F5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"/>
          <p:cNvSpPr txBox="1"/>
          <p:nvPr>
            <p:custDataLst>
              <p:tags r:id="rId23"/>
            </p:custDataLst>
          </p:nvPr>
        </p:nvSpPr>
        <p:spPr>
          <a:xfrm>
            <a:off x="6787769" y="3695065"/>
            <a:ext cx="310896" cy="1371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37" name="Right Arrow 36"/>
          <p:cNvSpPr/>
          <p:nvPr>
            <p:custDataLst>
              <p:tags r:id="rId24"/>
            </p:custDataLst>
          </p:nvPr>
        </p:nvSpPr>
        <p:spPr>
          <a:xfrm>
            <a:off x="9128633" y="2433193"/>
            <a:ext cx="347472" cy="310896"/>
          </a:xfrm>
          <a:prstGeom prst="rightArrow">
            <a:avLst/>
          </a:prstGeom>
          <a:solidFill>
            <a:srgbClr val="DBF3E9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doc_card_3"/>
          <p:cNvSpPr/>
          <p:nvPr>
            <p:custDataLst>
              <p:tags r:id="rId25"/>
            </p:custDataLst>
          </p:nvPr>
        </p:nvSpPr>
        <p:spPr>
          <a:xfrm>
            <a:off x="9485249" y="1454785"/>
            <a:ext cx="24231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oc_header_3"/>
          <p:cNvSpPr/>
          <p:nvPr>
            <p:custDataLst>
              <p:tags r:id="rId26"/>
            </p:custDataLst>
          </p:nvPr>
        </p:nvSpPr>
        <p:spPr>
          <a:xfrm>
            <a:off x="9649841" y="1610233"/>
            <a:ext cx="2084831" cy="438912"/>
          </a:xfrm>
          <a:prstGeom prst="roundRect">
            <a:avLst/>
          </a:prstGeom>
          <a:solidFill>
            <a:srgbClr val="E87D8B"/>
          </a:solidFill>
          <a:ln w="12700">
            <a:solidFill>
              <a:srgbClr val="E8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"/>
          <p:cNvSpPr txBox="1"/>
          <p:nvPr>
            <p:custDataLst>
              <p:tags r:id="rId27"/>
            </p:custDataLst>
          </p:nvPr>
        </p:nvSpPr>
        <p:spPr>
          <a:xfrm>
            <a:off x="9759569" y="1710817"/>
            <a:ext cx="1874519" cy="2813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acceptance.md</a:t>
            </a:r>
          </a:p>
        </p:txBody>
      </p:sp>
      <p:sp>
        <p:nvSpPr>
          <p:cNvPr id="41" name="TextBox"/>
          <p:cNvSpPr txBox="1"/>
          <p:nvPr>
            <p:custDataLst>
              <p:tags r:id="rId28"/>
            </p:custDataLst>
          </p:nvPr>
        </p:nvSpPr>
        <p:spPr>
          <a:xfrm>
            <a:off x="9713849" y="2213737"/>
            <a:ext cx="1965960" cy="3124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b="1">
                <a:solidFill>
                  <a:srgbClr val="E87D8B"/>
                </a:solidFill>
                <a:latin typeface="Noto Sans CJK SC"/>
              </a:rPr>
              <a:t>最后留下证据</a:t>
            </a:r>
          </a:p>
        </p:txBody>
      </p:sp>
      <p:sp>
        <p:nvSpPr>
          <p:cNvPr id="42" name="Multiline"/>
          <p:cNvSpPr txBox="1"/>
          <p:nvPr>
            <p:custDataLst>
              <p:tags r:id="rId29"/>
            </p:custDataLst>
          </p:nvPr>
        </p:nvSpPr>
        <p:spPr>
          <a:xfrm>
            <a:off x="9589135" y="2743835"/>
            <a:ext cx="2423160" cy="686435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163931"/>
                </a:solidFill>
                <a:latin typeface="Noto Sans CJK SC"/>
              </a:rPr>
              <a:t>解决：如何证明完成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63931"/>
                </a:solidFill>
                <a:latin typeface="Noto Sans CJK SC"/>
              </a:rPr>
              <a:t>沉淀：PASS / FAIL / 验证方式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63931"/>
                </a:solidFill>
                <a:latin typeface="Noto Sans CJK SC"/>
              </a:rPr>
              <a:t>出口：结果可复盘</a:t>
            </a:r>
          </a:p>
        </p:txBody>
      </p:sp>
      <p:sp>
        <p:nvSpPr>
          <p:cNvPr id="43" name="Circle"/>
          <p:cNvSpPr/>
          <p:nvPr>
            <p:custDataLst>
              <p:tags r:id="rId30"/>
            </p:custDataLst>
          </p:nvPr>
        </p:nvSpPr>
        <p:spPr>
          <a:xfrm>
            <a:off x="9649841" y="3612769"/>
            <a:ext cx="310896" cy="310896"/>
          </a:xfrm>
          <a:prstGeom prst="ellipse">
            <a:avLst/>
          </a:prstGeom>
          <a:solidFill>
            <a:srgbClr val="E87D8B"/>
          </a:solidFill>
          <a:ln w="12700">
            <a:solidFill>
              <a:srgbClr val="E8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"/>
          <p:cNvSpPr txBox="1"/>
          <p:nvPr>
            <p:custDataLst>
              <p:tags r:id="rId31"/>
            </p:custDataLst>
          </p:nvPr>
        </p:nvSpPr>
        <p:spPr>
          <a:xfrm>
            <a:off x="9649841" y="3695065"/>
            <a:ext cx="310896" cy="1371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45" name="doc_chain_bottom"/>
          <p:cNvSpPr/>
          <p:nvPr/>
        </p:nvSpPr>
        <p:spPr>
          <a:xfrm>
            <a:off x="1017905" y="4380865"/>
            <a:ext cx="10424160" cy="1005840"/>
          </a:xfrm>
          <a:prstGeom prst="roundRect">
            <a:avLst/>
          </a:prstGeom>
          <a:solidFill>
            <a:srgbClr val="DBF3E9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"/>
          <p:cNvSpPr txBox="1"/>
          <p:nvPr/>
        </p:nvSpPr>
        <p:spPr>
          <a:xfrm>
            <a:off x="1264793" y="4636897"/>
            <a:ext cx="10058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379176"/>
                </a:solidFill>
                <a:latin typeface="Noto Sans CJK SC"/>
              </a:rPr>
              <a:t>链路逻辑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2298065" y="4545457"/>
            <a:ext cx="6126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63931"/>
                </a:solidFill>
                <a:latin typeface="Noto Sans CJK SC"/>
              </a:rPr>
              <a:t>规格定边界，设计落结构，任务拆小步，验收留证据。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2298065" y="4902073"/>
            <a:ext cx="6126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5C6E68"/>
                </a:solidFill>
                <a:latin typeface="Noto Sans CJK SC"/>
              </a:rPr>
              <a:t>每份文档都有出口条件，下一步才不会凭感觉推进。</a:t>
            </a:r>
          </a:p>
        </p:txBody>
      </p:sp>
      <p:sp>
        <p:nvSpPr>
          <p:cNvPr id="49" name="evidence_badge"/>
          <p:cNvSpPr/>
          <p:nvPr/>
        </p:nvSpPr>
        <p:spPr>
          <a:xfrm>
            <a:off x="8802370" y="4592320"/>
            <a:ext cx="2469515" cy="542290"/>
          </a:xfrm>
          <a:prstGeom prst="roundRect">
            <a:avLst/>
          </a:prstGeom>
          <a:solidFill>
            <a:srgbClr val="FEE8B8"/>
          </a:solidFill>
          <a:ln w="12700">
            <a:solidFill>
              <a:srgbClr val="F5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"/>
          <p:cNvSpPr txBox="1"/>
          <p:nvPr/>
        </p:nvSpPr>
        <p:spPr>
          <a:xfrm>
            <a:off x="8877300" y="4755515"/>
            <a:ext cx="2381250" cy="1466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400" b="1">
                <a:solidFill>
                  <a:srgbClr val="163931"/>
                </a:solidFill>
                <a:latin typeface="Noto Sans CJK SC"/>
              </a:rPr>
              <a:t>可审阅 → 可执行 → 可验收</a:t>
            </a:r>
          </a:p>
        </p:txBody>
      </p:sp>
    </p:spTree>
  </p:cSld>
  <p:clrMapOvr>
    <a:masterClrMapping/>
  </p:clrMapOvr>
  <p:transition spd="med">
    <p:wipe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530352" y="6217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63931"/>
                </a:solidFill>
                <a:latin typeface="Noto Sans CJK SC"/>
              </a:rPr>
              <a:t>推进证据：T01-T22 从骨架到体验迭代全部完成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1216152"/>
            <a:ext cx="987552" cy="0"/>
          </a:xfrm>
          <a:prstGeom prst="line">
            <a:avLst/>
          </a:prstGeom>
          <a:noFill/>
          <a:ln w="3175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900" dirty="0"/>
          </a:p>
        </p:txBody>
      </p:sp>
      <p:sp>
        <p:nvSpPr>
          <p:cNvPr id="14" name="done_box"/>
          <p:cNvSpPr/>
          <p:nvPr/>
        </p:nvSpPr>
        <p:spPr>
          <a:xfrm>
            <a:off x="749808" y="1417320"/>
            <a:ext cx="2148840" cy="1207008"/>
          </a:xfrm>
          <a:prstGeom prst="roundRect">
            <a:avLst/>
          </a:prstGeom>
          <a:solidFill>
            <a:srgbClr val="DBF3E9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"/>
          <p:cNvSpPr txBox="1"/>
          <p:nvPr/>
        </p:nvSpPr>
        <p:spPr>
          <a:xfrm>
            <a:off x="978408" y="1600200"/>
            <a:ext cx="16916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900" b="1">
                <a:solidFill>
                  <a:srgbClr val="379176"/>
                </a:solidFill>
                <a:latin typeface="Noto Sans CJK SC"/>
              </a:rPr>
              <a:t>22 / 22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914400" y="2084831"/>
            <a:ext cx="17830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163931"/>
                </a:solidFill>
                <a:latin typeface="Noto Sans CJK SC"/>
              </a:rPr>
              <a:t>任务状态全部 DONE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3154680" y="1408176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163931"/>
                </a:solidFill>
                <a:latin typeface="Noto Sans CJK SC"/>
              </a:rPr>
              <a:t>任务推进路径</a:t>
            </a:r>
          </a:p>
        </p:txBody>
      </p:sp>
      <p:sp>
        <p:nvSpPr>
          <p:cNvPr id="18" name="phase_0"/>
          <p:cNvSpPr/>
          <p:nvPr/>
        </p:nvSpPr>
        <p:spPr>
          <a:xfrm>
            <a:off x="3154680" y="1856231"/>
            <a:ext cx="135331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ircle"/>
          <p:cNvSpPr/>
          <p:nvPr/>
        </p:nvSpPr>
        <p:spPr>
          <a:xfrm>
            <a:off x="3273552" y="1984248"/>
            <a:ext cx="292608" cy="292608"/>
          </a:xfrm>
          <a:prstGeom prst="ellipse">
            <a:avLst/>
          </a:prstGeom>
          <a:solidFill>
            <a:srgbClr val="379176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"/>
          <p:cNvSpPr txBox="1"/>
          <p:nvPr/>
        </p:nvSpPr>
        <p:spPr>
          <a:xfrm>
            <a:off x="3273552" y="1993392"/>
            <a:ext cx="292608" cy="1097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✓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3657600" y="1975104"/>
            <a:ext cx="694944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379176"/>
                </a:solidFill>
                <a:latin typeface="Noto Sans CJK SC"/>
              </a:rPr>
              <a:t>T01–T04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3291840" y="2331720"/>
            <a:ext cx="1078992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163931"/>
                </a:solidFill>
                <a:latin typeface="Noto Sans CJK SC"/>
              </a:rPr>
              <a:t>项目骨架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3282696" y="2660904"/>
            <a:ext cx="1078992" cy="3429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5C6E68"/>
                </a:solidFill>
                <a:latin typeface="Noto Sans CJK SC"/>
              </a:rPr>
              <a:t>初始化、UI、数据模型、页面壳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535424" y="2240280"/>
            <a:ext cx="228600" cy="228600"/>
          </a:xfrm>
          <a:prstGeom prst="rightArrow">
            <a:avLst/>
          </a:prstGeom>
          <a:solidFill>
            <a:srgbClr val="DBF3E9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hase_1"/>
          <p:cNvSpPr/>
          <p:nvPr/>
        </p:nvSpPr>
        <p:spPr>
          <a:xfrm>
            <a:off x="4782312" y="1856231"/>
            <a:ext cx="135331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ircle"/>
          <p:cNvSpPr/>
          <p:nvPr/>
        </p:nvSpPr>
        <p:spPr>
          <a:xfrm>
            <a:off x="4901184" y="1984248"/>
            <a:ext cx="292608" cy="292608"/>
          </a:xfrm>
          <a:prstGeom prst="ellipse">
            <a:avLst/>
          </a:prstGeom>
          <a:solidFill>
            <a:srgbClr val="379176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"/>
          <p:cNvSpPr txBox="1"/>
          <p:nvPr/>
        </p:nvSpPr>
        <p:spPr>
          <a:xfrm>
            <a:off x="4901184" y="1993392"/>
            <a:ext cx="292608" cy="1097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✓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5285232" y="1975104"/>
            <a:ext cx="694944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379176"/>
                </a:solidFill>
                <a:latin typeface="Noto Sans CJK SC"/>
              </a:rPr>
              <a:t>T05–T08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4919472" y="2331720"/>
            <a:ext cx="1078992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163931"/>
                </a:solidFill>
                <a:latin typeface="Noto Sans CJK SC"/>
              </a:rPr>
              <a:t>核心后端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4910328" y="2660904"/>
            <a:ext cx="1078992" cy="3429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5C6E68"/>
                </a:solidFill>
                <a:latin typeface="Noto Sans CJK SC"/>
              </a:rPr>
              <a:t>设置、MaaS、生成、答题记录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163056" y="2240280"/>
            <a:ext cx="228600" cy="228600"/>
          </a:xfrm>
          <a:prstGeom prst="rightArrow">
            <a:avLst/>
          </a:prstGeom>
          <a:solidFill>
            <a:srgbClr val="DBF3E9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phase_2"/>
          <p:cNvSpPr/>
          <p:nvPr/>
        </p:nvSpPr>
        <p:spPr>
          <a:xfrm>
            <a:off x="6409944" y="1856231"/>
            <a:ext cx="135331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ircle"/>
          <p:cNvSpPr/>
          <p:nvPr/>
        </p:nvSpPr>
        <p:spPr>
          <a:xfrm>
            <a:off x="6528816" y="1984248"/>
            <a:ext cx="292608" cy="292608"/>
          </a:xfrm>
          <a:prstGeom prst="ellipse">
            <a:avLst/>
          </a:prstGeom>
          <a:solidFill>
            <a:srgbClr val="379176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"/>
          <p:cNvSpPr txBox="1"/>
          <p:nvPr/>
        </p:nvSpPr>
        <p:spPr>
          <a:xfrm>
            <a:off x="6528816" y="1993392"/>
            <a:ext cx="292608" cy="1097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✓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6912864" y="1975104"/>
            <a:ext cx="694944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379176"/>
                </a:solidFill>
                <a:latin typeface="Noto Sans CJK SC"/>
              </a:rPr>
              <a:t>T09–T12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6547104" y="2331720"/>
            <a:ext cx="1078992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163931"/>
                </a:solidFill>
                <a:latin typeface="Noto Sans CJK SC"/>
              </a:rPr>
              <a:t>练习闭环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6537959" y="2660904"/>
            <a:ext cx="1078992" cy="3429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5C6E68"/>
                </a:solidFill>
                <a:latin typeface="Noto Sans CJK SC"/>
              </a:rPr>
              <a:t>听力、语法、错题、统计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790688" y="2240280"/>
            <a:ext cx="228600" cy="228600"/>
          </a:xfrm>
          <a:prstGeom prst="rightArrow">
            <a:avLst/>
          </a:prstGeom>
          <a:solidFill>
            <a:srgbClr val="DBF3E9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phase_3"/>
          <p:cNvSpPr/>
          <p:nvPr/>
        </p:nvSpPr>
        <p:spPr>
          <a:xfrm>
            <a:off x="8037575" y="1856231"/>
            <a:ext cx="135331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ircle"/>
          <p:cNvSpPr/>
          <p:nvPr/>
        </p:nvSpPr>
        <p:spPr>
          <a:xfrm>
            <a:off x="8156448" y="1984248"/>
            <a:ext cx="292608" cy="292608"/>
          </a:xfrm>
          <a:prstGeom prst="ellipse">
            <a:avLst/>
          </a:prstGeom>
          <a:solidFill>
            <a:srgbClr val="379176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"/>
          <p:cNvSpPr txBox="1"/>
          <p:nvPr/>
        </p:nvSpPr>
        <p:spPr>
          <a:xfrm>
            <a:off x="8156448" y="1993392"/>
            <a:ext cx="292608" cy="1097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✓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8540496" y="1975104"/>
            <a:ext cx="694944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379176"/>
                </a:solidFill>
                <a:latin typeface="Noto Sans CJK SC"/>
              </a:rPr>
              <a:t>T13–T15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8174736" y="2331720"/>
            <a:ext cx="1078992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163931"/>
                </a:solidFill>
                <a:latin typeface="Noto Sans CJK SC"/>
              </a:rPr>
              <a:t>安全验收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8165465" y="2660650"/>
            <a:ext cx="1127125" cy="3429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5C6E68"/>
                </a:solidFill>
                <a:latin typeface="Noto Sans CJK SC"/>
              </a:rPr>
              <a:t>安全检查、浏览器验收、最终记录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418319" y="2240280"/>
            <a:ext cx="228600" cy="228600"/>
          </a:xfrm>
          <a:prstGeom prst="rightArrow">
            <a:avLst/>
          </a:prstGeom>
          <a:solidFill>
            <a:srgbClr val="DBF3E9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phase_4"/>
          <p:cNvSpPr/>
          <p:nvPr/>
        </p:nvSpPr>
        <p:spPr>
          <a:xfrm>
            <a:off x="9665208" y="1856231"/>
            <a:ext cx="135331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Circle"/>
          <p:cNvSpPr/>
          <p:nvPr/>
        </p:nvSpPr>
        <p:spPr>
          <a:xfrm>
            <a:off x="9784080" y="1984248"/>
            <a:ext cx="292608" cy="292608"/>
          </a:xfrm>
          <a:prstGeom prst="ellipse">
            <a:avLst/>
          </a:prstGeom>
          <a:solidFill>
            <a:srgbClr val="379176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"/>
          <p:cNvSpPr txBox="1"/>
          <p:nvPr/>
        </p:nvSpPr>
        <p:spPr>
          <a:xfrm>
            <a:off x="9784080" y="1993392"/>
            <a:ext cx="292608" cy="1097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✓</a:t>
            </a:r>
          </a:p>
        </p:txBody>
      </p:sp>
      <p:sp>
        <p:nvSpPr>
          <p:cNvPr id="49" name="TextBox"/>
          <p:cNvSpPr txBox="1"/>
          <p:nvPr/>
        </p:nvSpPr>
        <p:spPr>
          <a:xfrm>
            <a:off x="10168128" y="1975104"/>
            <a:ext cx="694944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379176"/>
                </a:solidFill>
                <a:latin typeface="Noto Sans CJK SC"/>
              </a:rPr>
              <a:t>T16–T22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9802368" y="2331720"/>
            <a:ext cx="1078992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163931"/>
                </a:solidFill>
                <a:latin typeface="Noto Sans CJK SC"/>
              </a:rPr>
              <a:t>体验增强</a:t>
            </a:r>
          </a:p>
        </p:txBody>
      </p:sp>
      <p:sp>
        <p:nvSpPr>
          <p:cNvPr id="51" name="TextBox"/>
          <p:cNvSpPr txBox="1"/>
          <p:nvPr/>
        </p:nvSpPr>
        <p:spPr>
          <a:xfrm>
            <a:off x="9793224" y="2660904"/>
            <a:ext cx="1078992" cy="3429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5C6E68"/>
                </a:solidFill>
                <a:latin typeface="Noto Sans CJK SC"/>
              </a:rPr>
              <a:t>UI、动效、复练、统计仪表盘</a:t>
            </a:r>
          </a:p>
        </p:txBody>
      </p:sp>
      <p:sp>
        <p:nvSpPr>
          <p:cNvPr id="52" name="milestone_panel"/>
          <p:cNvSpPr/>
          <p:nvPr/>
        </p:nvSpPr>
        <p:spPr>
          <a:xfrm>
            <a:off x="749808" y="3337560"/>
            <a:ext cx="53035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"/>
          <p:cNvSpPr txBox="1"/>
          <p:nvPr/>
        </p:nvSpPr>
        <p:spPr>
          <a:xfrm>
            <a:off x="960120" y="3547872"/>
            <a:ext cx="2743200" cy="2965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379176"/>
                </a:solidFill>
                <a:latin typeface="Noto Sans CJK SC"/>
              </a:rPr>
              <a:t>关键里程碑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987552" y="3895344"/>
            <a:ext cx="676656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379176"/>
                </a:solidFill>
                <a:latin typeface="Noto Sans CJK SC"/>
              </a:rPr>
              <a:t>T06</a:t>
            </a:r>
          </a:p>
        </p:txBody>
      </p:sp>
      <p:sp>
        <p:nvSpPr>
          <p:cNvPr id="55" name="TextBox"/>
          <p:cNvSpPr txBox="1"/>
          <p:nvPr/>
        </p:nvSpPr>
        <p:spPr>
          <a:xfrm>
            <a:off x="1783080" y="3895344"/>
            <a:ext cx="3611880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163931"/>
                </a:solidFill>
                <a:latin typeface="Noto Sans CJK SC"/>
              </a:rPr>
              <a:t>MaaS Client / Prompt / 题目校验</a:t>
            </a:r>
          </a:p>
        </p:txBody>
      </p:sp>
      <p:sp>
        <p:nvSpPr>
          <p:cNvPr id="56" name="TextBox"/>
          <p:cNvSpPr txBox="1"/>
          <p:nvPr/>
        </p:nvSpPr>
        <p:spPr>
          <a:xfrm>
            <a:off x="987552" y="4151376"/>
            <a:ext cx="676656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379176"/>
                </a:solidFill>
                <a:latin typeface="Noto Sans CJK SC"/>
              </a:rPr>
              <a:t>T09–T10</a:t>
            </a:r>
          </a:p>
        </p:txBody>
      </p:sp>
      <p:sp>
        <p:nvSpPr>
          <p:cNvPr id="57" name="TextBox"/>
          <p:cNvSpPr txBox="1"/>
          <p:nvPr/>
        </p:nvSpPr>
        <p:spPr>
          <a:xfrm>
            <a:off x="1783080" y="4151376"/>
            <a:ext cx="3611880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163931"/>
                </a:solidFill>
                <a:latin typeface="Noto Sans CJK SC"/>
              </a:rPr>
              <a:t>听力与语法主流程闭环</a:t>
            </a:r>
          </a:p>
        </p:txBody>
      </p:sp>
      <p:sp>
        <p:nvSpPr>
          <p:cNvPr id="58" name="TextBox"/>
          <p:cNvSpPr txBox="1"/>
          <p:nvPr/>
        </p:nvSpPr>
        <p:spPr>
          <a:xfrm>
            <a:off x="987552" y="4407408"/>
            <a:ext cx="676656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379176"/>
                </a:solidFill>
                <a:latin typeface="Noto Sans CJK SC"/>
              </a:rPr>
              <a:t>T12</a:t>
            </a:r>
          </a:p>
        </p:txBody>
      </p:sp>
      <p:sp>
        <p:nvSpPr>
          <p:cNvPr id="59" name="TextBox"/>
          <p:cNvSpPr txBox="1"/>
          <p:nvPr/>
        </p:nvSpPr>
        <p:spPr>
          <a:xfrm>
            <a:off x="1783080" y="4407408"/>
            <a:ext cx="3611880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163931"/>
                </a:solidFill>
                <a:latin typeface="Noto Sans CJK SC"/>
              </a:rPr>
              <a:t>统计 API 与页面可计算</a:t>
            </a:r>
          </a:p>
        </p:txBody>
      </p:sp>
      <p:sp>
        <p:nvSpPr>
          <p:cNvPr id="60" name="TextBox"/>
          <p:cNvSpPr txBox="1"/>
          <p:nvPr/>
        </p:nvSpPr>
        <p:spPr>
          <a:xfrm>
            <a:off x="987552" y="4663440"/>
            <a:ext cx="676656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379176"/>
                </a:solidFill>
                <a:latin typeface="Noto Sans CJK SC"/>
              </a:rPr>
              <a:t>T17</a:t>
            </a:r>
          </a:p>
        </p:txBody>
      </p:sp>
      <p:sp>
        <p:nvSpPr>
          <p:cNvPr id="61" name="TextBox"/>
          <p:cNvSpPr txBox="1"/>
          <p:nvPr/>
        </p:nvSpPr>
        <p:spPr>
          <a:xfrm>
            <a:off x="1783080" y="4663440"/>
            <a:ext cx="3611880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163931"/>
                </a:solidFill>
                <a:latin typeface="Noto Sans CJK SC"/>
              </a:rPr>
              <a:t>Motion 动效与视觉重设计</a:t>
            </a:r>
          </a:p>
        </p:txBody>
      </p:sp>
      <p:sp>
        <p:nvSpPr>
          <p:cNvPr id="62" name="TextBox"/>
          <p:cNvSpPr txBox="1"/>
          <p:nvPr/>
        </p:nvSpPr>
        <p:spPr>
          <a:xfrm>
            <a:off x="987552" y="4919472"/>
            <a:ext cx="676656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379176"/>
                </a:solidFill>
                <a:latin typeface="Noto Sans CJK SC"/>
              </a:rPr>
              <a:t>T22</a:t>
            </a:r>
          </a:p>
        </p:txBody>
      </p:sp>
      <p:sp>
        <p:nvSpPr>
          <p:cNvPr id="63" name="TextBox"/>
          <p:cNvSpPr txBox="1"/>
          <p:nvPr/>
        </p:nvSpPr>
        <p:spPr>
          <a:xfrm>
            <a:off x="1783080" y="4919472"/>
            <a:ext cx="3611880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163931"/>
                </a:solidFill>
                <a:latin typeface="Noto Sans CJK SC"/>
              </a:rPr>
              <a:t>统计卡通仪表盘</a:t>
            </a:r>
          </a:p>
        </p:txBody>
      </p:sp>
      <p:sp>
        <p:nvSpPr>
          <p:cNvPr id="64" name="evidence_panel"/>
          <p:cNvSpPr/>
          <p:nvPr/>
        </p:nvSpPr>
        <p:spPr>
          <a:xfrm>
            <a:off x="6400800" y="3337560"/>
            <a:ext cx="4526280" cy="1874519"/>
          </a:xfrm>
          <a:prstGeom prst="roundRect">
            <a:avLst/>
          </a:prstGeom>
          <a:solidFill>
            <a:srgbClr val="EBF7F0"/>
          </a:solidFill>
          <a:ln w="12700">
            <a:solidFill>
              <a:srgbClr val="C3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"/>
          <p:cNvSpPr txBox="1"/>
          <p:nvPr/>
        </p:nvSpPr>
        <p:spPr>
          <a:xfrm>
            <a:off x="6675120" y="3566160"/>
            <a:ext cx="1188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379176"/>
                </a:solidFill>
                <a:latin typeface="Noto Sans CJK SC"/>
              </a:rPr>
              <a:t>验收证据</a:t>
            </a:r>
          </a:p>
        </p:txBody>
      </p:sp>
      <p:sp>
        <p:nvSpPr>
          <p:cNvPr id="66" name="Circle"/>
          <p:cNvSpPr/>
          <p:nvPr/>
        </p:nvSpPr>
        <p:spPr>
          <a:xfrm>
            <a:off x="6720840" y="3995927"/>
            <a:ext cx="164592" cy="164592"/>
          </a:xfrm>
          <a:prstGeom prst="ellipse">
            <a:avLst/>
          </a:prstGeom>
          <a:solidFill>
            <a:srgbClr val="379176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"/>
          <p:cNvSpPr txBox="1"/>
          <p:nvPr/>
        </p:nvSpPr>
        <p:spPr>
          <a:xfrm>
            <a:off x="6720840" y="3995927"/>
            <a:ext cx="164592" cy="548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oto Sans CJK SC"/>
              </a:rPr>
              <a:t>✓</a:t>
            </a:r>
          </a:p>
        </p:txBody>
      </p:sp>
      <p:sp>
        <p:nvSpPr>
          <p:cNvPr id="68" name="TextBox"/>
          <p:cNvSpPr txBox="1"/>
          <p:nvPr/>
        </p:nvSpPr>
        <p:spPr>
          <a:xfrm>
            <a:off x="6986016" y="3977639"/>
            <a:ext cx="3429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163931"/>
                </a:solidFill>
                <a:latin typeface="Noto Sans CJK SC"/>
              </a:rPr>
              <a:t>PASS 状态贯穿 T01–T22</a:t>
            </a:r>
          </a:p>
        </p:txBody>
      </p:sp>
      <p:sp>
        <p:nvSpPr>
          <p:cNvPr id="69" name="Circle"/>
          <p:cNvSpPr/>
          <p:nvPr/>
        </p:nvSpPr>
        <p:spPr>
          <a:xfrm>
            <a:off x="6720840" y="4379975"/>
            <a:ext cx="164592" cy="164592"/>
          </a:xfrm>
          <a:prstGeom prst="ellipse">
            <a:avLst/>
          </a:prstGeom>
          <a:solidFill>
            <a:srgbClr val="379176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"/>
          <p:cNvSpPr txBox="1"/>
          <p:nvPr/>
        </p:nvSpPr>
        <p:spPr>
          <a:xfrm>
            <a:off x="6720840" y="4379975"/>
            <a:ext cx="164592" cy="548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oto Sans CJK SC"/>
              </a:rPr>
              <a:t>✓</a:t>
            </a:r>
          </a:p>
        </p:txBody>
      </p:sp>
      <p:sp>
        <p:nvSpPr>
          <p:cNvPr id="71" name="TextBox"/>
          <p:cNvSpPr txBox="1"/>
          <p:nvPr/>
        </p:nvSpPr>
        <p:spPr>
          <a:xfrm>
            <a:off x="6986016" y="4361688"/>
            <a:ext cx="3429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163931"/>
                </a:solidFill>
                <a:latin typeface="Noto Sans CJK SC"/>
              </a:rPr>
              <a:t>lint / build / Prisma / smoke 均有记录</a:t>
            </a:r>
          </a:p>
        </p:txBody>
      </p:sp>
      <p:sp>
        <p:nvSpPr>
          <p:cNvPr id="72" name="Circle"/>
          <p:cNvSpPr/>
          <p:nvPr/>
        </p:nvSpPr>
        <p:spPr>
          <a:xfrm>
            <a:off x="6720840" y="4764023"/>
            <a:ext cx="164592" cy="164592"/>
          </a:xfrm>
          <a:prstGeom prst="ellipse">
            <a:avLst/>
          </a:prstGeom>
          <a:solidFill>
            <a:srgbClr val="379176"/>
          </a:solidFill>
          <a:ln w="12700">
            <a:solidFill>
              <a:srgbClr val="37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"/>
          <p:cNvSpPr txBox="1"/>
          <p:nvPr/>
        </p:nvSpPr>
        <p:spPr>
          <a:xfrm>
            <a:off x="6720840" y="4764023"/>
            <a:ext cx="164592" cy="548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oto Sans CJK SC"/>
              </a:rPr>
              <a:t>✓</a:t>
            </a:r>
          </a:p>
        </p:txBody>
      </p:sp>
      <p:sp>
        <p:nvSpPr>
          <p:cNvPr id="74" name="TextBox"/>
          <p:cNvSpPr txBox="1"/>
          <p:nvPr/>
        </p:nvSpPr>
        <p:spPr>
          <a:xfrm>
            <a:off x="6986016" y="4745736"/>
            <a:ext cx="3429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163931"/>
                </a:solidFill>
                <a:latin typeface="Noto Sans CJK SC"/>
              </a:rPr>
              <a:t>安全边界、浏览器可读性、UI 迭代均可追溯</a:t>
            </a:r>
          </a:p>
        </p:txBody>
      </p:sp>
      <p:sp>
        <p:nvSpPr>
          <p:cNvPr id="75" name="TextBox"/>
          <p:cNvSpPr txBox="1"/>
          <p:nvPr/>
        </p:nvSpPr>
        <p:spPr>
          <a:xfrm>
            <a:off x="2240280" y="5632704"/>
            <a:ext cx="7772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700" b="1">
                <a:solidFill>
                  <a:srgbClr val="163931"/>
                </a:solidFill>
                <a:latin typeface="Noto Sans CJK SC"/>
              </a:rPr>
              <a:t>从 MVP 主链路到 UI / 动效 / 复练 / 统计增强，全部有验收记录支撑。</a:t>
            </a:r>
          </a:p>
        </p:txBody>
      </p:sp>
    </p:spTree>
  </p:cSld>
  <p:clrMapOvr>
    <a:masterClrMapping/>
  </p:clrMapOvr>
  <p:transition spd="med">
    <p:split orient="vert"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6217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1216152"/>
            <a:ext cx="987552" cy="0"/>
          </a:xfrm>
          <a:prstGeom prst="line">
            <a:avLst/>
          </a:prstGeom>
          <a:noFill/>
          <a:ln w="3175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871533"/>
            <a:ext cx="10954512" cy="4965192"/>
          </a:xfrm>
          <a:prstGeom prst="roundRect">
            <a:avLst>
              <a:gd name="adj" fmla="val 737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0" descr="E:\托业\output\presentation\assets\architecture-gpt-generat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" y="869924"/>
            <a:ext cx="10881360" cy="5463638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457200" y="539496"/>
            <a:ext cx="2468880" cy="292608"/>
            <a:chOff x="786384" y="1373319"/>
            <a:chExt cx="2468880" cy="292608"/>
          </a:xfrm>
        </p:grpSpPr>
        <p:sp>
          <p:nvSpPr>
            <p:cNvPr id="17" name="Shape 13"/>
            <p:cNvSpPr/>
            <p:nvPr/>
          </p:nvSpPr>
          <p:spPr>
            <a:xfrm>
              <a:off x="786384" y="1373319"/>
              <a:ext cx="2468880" cy="292608"/>
            </a:xfrm>
            <a:prstGeom prst="roundRect">
              <a:avLst>
                <a:gd name="adj" fmla="val 15625"/>
              </a:avLst>
            </a:prstGeom>
            <a:solidFill>
              <a:srgbClr val="3B8F6E">
                <a:alpha val="94000"/>
              </a:srgbClr>
            </a:solidFill>
            <a:ln w="12700">
              <a:solidFill>
                <a:srgbClr val="3B8F6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14"/>
            <p:cNvSpPr/>
            <p:nvPr/>
          </p:nvSpPr>
          <p:spPr>
            <a:xfrm>
              <a:off x="914400" y="1495044"/>
              <a:ext cx="2240280" cy="822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b="1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技术架构图</a:t>
              </a:r>
              <a:endParaRPr lang="en-US" sz="1000" dirty="0"/>
            </a:p>
          </p:txBody>
        </p:sp>
      </p:grp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530352" y="6217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数据模型：四张表支撑完整学习闭环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9224" y="1335024"/>
            <a:ext cx="6793992" cy="4370832"/>
          </a:xfrm>
          <a:prstGeom prst="roundRect">
            <a:avLst>
              <a:gd name="adj" fmla="val 837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0" descr="E:\托业\output\presentation\assets\uml-class-model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800" y="1371600"/>
            <a:ext cx="672084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48716" y="1042162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3B8F6E">
              <a:alpha val="94000"/>
            </a:srgbClr>
          </a:solidFill>
          <a:ln w="12700">
            <a:solidFill>
              <a:srgbClr val="3B8F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831977" y="1147191"/>
            <a:ext cx="2240280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UML 类图：静态结构模型</a:t>
            </a:r>
          </a:p>
        </p:txBody>
      </p:sp>
      <p:sp>
        <p:nvSpPr>
          <p:cNvPr id="20" name="Text 16"/>
          <p:cNvSpPr/>
          <p:nvPr/>
        </p:nvSpPr>
        <p:spPr>
          <a:xfrm>
            <a:off x="7726680" y="148132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5B8D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从设计到数据库</a:t>
            </a:r>
          </a:p>
        </p:txBody>
      </p:sp>
      <p:sp>
        <p:nvSpPr>
          <p:cNvPr id="21" name="Shape 17"/>
          <p:cNvSpPr/>
          <p:nvPr/>
        </p:nvSpPr>
        <p:spPr>
          <a:xfrm>
            <a:off x="7726680" y="1920240"/>
            <a:ext cx="91440" cy="9144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7927848" y="1865376"/>
            <a:ext cx="3246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把业务对象沉淀为稳定数据结构</a:t>
            </a:r>
          </a:p>
        </p:txBody>
      </p:sp>
      <p:sp>
        <p:nvSpPr>
          <p:cNvPr id="23" name="Shape 19"/>
          <p:cNvSpPr/>
          <p:nvPr/>
        </p:nvSpPr>
        <p:spPr>
          <a:xfrm>
            <a:off x="7726680" y="2331720"/>
            <a:ext cx="91440" cy="9144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0"/>
          <p:cNvSpPr/>
          <p:nvPr/>
        </p:nvSpPr>
        <p:spPr>
          <a:xfrm>
            <a:off x="7918450" y="2345690"/>
            <a:ext cx="4331335" cy="774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Question 是题目源，PracticeRecord 是行为轨迹</a:t>
            </a:r>
          </a:p>
        </p:txBody>
      </p:sp>
      <p:sp>
        <p:nvSpPr>
          <p:cNvPr id="25" name="Shape 21"/>
          <p:cNvSpPr/>
          <p:nvPr/>
        </p:nvSpPr>
        <p:spPr>
          <a:xfrm>
            <a:off x="7726680" y="2743200"/>
            <a:ext cx="91440" cy="9144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7927975" y="2688590"/>
            <a:ext cx="4251960" cy="3308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Mistake 维护复练状态，UserSetting 保存本地学习偏好</a:t>
            </a:r>
          </a:p>
        </p:txBody>
      </p:sp>
      <p:sp>
        <p:nvSpPr>
          <p:cNvPr id="27" name="Shape 23"/>
          <p:cNvSpPr/>
          <p:nvPr/>
        </p:nvSpPr>
        <p:spPr>
          <a:xfrm>
            <a:off x="7726680" y="3154680"/>
            <a:ext cx="91440" cy="9144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7927975" y="3100070"/>
            <a:ext cx="4079875" cy="3289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类图说明“生成、练习、错题、统计”为什么能闭环</a:t>
            </a:r>
          </a:p>
        </p:txBody>
      </p:sp>
      <p:sp>
        <p:nvSpPr>
          <p:cNvPr id="29" name="Shape 25"/>
          <p:cNvSpPr/>
          <p:nvPr/>
        </p:nvSpPr>
        <p:spPr>
          <a:xfrm>
            <a:off x="7845552" y="4315968"/>
            <a:ext cx="1234440" cy="256032"/>
          </a:xfrm>
          <a:prstGeom prst="rect">
            <a:avLst/>
          </a:prstGeom>
          <a:solidFill>
            <a:srgbClr val="235448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6"/>
          <p:cNvSpPr/>
          <p:nvPr/>
        </p:nvSpPr>
        <p:spPr>
          <a:xfrm>
            <a:off x="7918704" y="4411980"/>
            <a:ext cx="108813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设计对象</a:t>
            </a:r>
          </a:p>
        </p:txBody>
      </p:sp>
      <p:sp>
        <p:nvSpPr>
          <p:cNvPr id="31" name="Shape 27"/>
          <p:cNvSpPr/>
          <p:nvPr/>
        </p:nvSpPr>
        <p:spPr>
          <a:xfrm>
            <a:off x="9079992" y="4315968"/>
            <a:ext cx="2011680" cy="256032"/>
          </a:xfrm>
          <a:prstGeom prst="rect">
            <a:avLst/>
          </a:prstGeom>
          <a:solidFill>
            <a:srgbClr val="235448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8"/>
          <p:cNvSpPr/>
          <p:nvPr/>
        </p:nvSpPr>
        <p:spPr>
          <a:xfrm>
            <a:off x="9153144" y="4411980"/>
            <a:ext cx="18653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</a:t>
            </a:r>
          </a:p>
        </p:txBody>
      </p:sp>
      <p:sp>
        <p:nvSpPr>
          <p:cNvPr id="33" name="Shape 29"/>
          <p:cNvSpPr/>
          <p:nvPr/>
        </p:nvSpPr>
        <p:spPr>
          <a:xfrm>
            <a:off x="7845552" y="4572000"/>
            <a:ext cx="123444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0"/>
          <p:cNvSpPr/>
          <p:nvPr/>
        </p:nvSpPr>
        <p:spPr>
          <a:xfrm>
            <a:off x="7918704" y="4668012"/>
            <a:ext cx="108813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Question</a:t>
            </a:r>
          </a:p>
        </p:txBody>
      </p:sp>
      <p:sp>
        <p:nvSpPr>
          <p:cNvPr id="35" name="Shape 31"/>
          <p:cNvSpPr/>
          <p:nvPr/>
        </p:nvSpPr>
        <p:spPr>
          <a:xfrm>
            <a:off x="9079992" y="4572000"/>
            <a:ext cx="201168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2"/>
          <p:cNvSpPr/>
          <p:nvPr/>
        </p:nvSpPr>
        <p:spPr>
          <a:xfrm>
            <a:off x="9153144" y="4668012"/>
            <a:ext cx="18653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题目与解析</a:t>
            </a:r>
          </a:p>
        </p:txBody>
      </p:sp>
      <p:sp>
        <p:nvSpPr>
          <p:cNvPr id="37" name="Shape 33"/>
          <p:cNvSpPr/>
          <p:nvPr/>
        </p:nvSpPr>
        <p:spPr>
          <a:xfrm>
            <a:off x="7845552" y="4828032"/>
            <a:ext cx="1234440" cy="256032"/>
          </a:xfrm>
          <a:prstGeom prst="rect">
            <a:avLst/>
          </a:prstGeom>
          <a:solidFill>
            <a:srgbClr val="F0F8F1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4"/>
          <p:cNvSpPr/>
          <p:nvPr/>
        </p:nvSpPr>
        <p:spPr>
          <a:xfrm>
            <a:off x="7918704" y="4924044"/>
            <a:ext cx="108813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PracticeRecord</a:t>
            </a:r>
          </a:p>
        </p:txBody>
      </p:sp>
      <p:sp>
        <p:nvSpPr>
          <p:cNvPr id="39" name="Shape 35"/>
          <p:cNvSpPr/>
          <p:nvPr/>
        </p:nvSpPr>
        <p:spPr>
          <a:xfrm>
            <a:off x="9079992" y="4828032"/>
            <a:ext cx="2011680" cy="256032"/>
          </a:xfrm>
          <a:prstGeom prst="rect">
            <a:avLst/>
          </a:prstGeom>
          <a:solidFill>
            <a:srgbClr val="F0F8F1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6"/>
          <p:cNvSpPr/>
          <p:nvPr/>
        </p:nvSpPr>
        <p:spPr>
          <a:xfrm>
            <a:off x="9153144" y="4924044"/>
            <a:ext cx="18653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作答轨迹</a:t>
            </a:r>
          </a:p>
        </p:txBody>
      </p:sp>
      <p:sp>
        <p:nvSpPr>
          <p:cNvPr id="41" name="Shape 37"/>
          <p:cNvSpPr/>
          <p:nvPr/>
        </p:nvSpPr>
        <p:spPr>
          <a:xfrm>
            <a:off x="7845552" y="5084064"/>
            <a:ext cx="123444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8"/>
          <p:cNvSpPr/>
          <p:nvPr/>
        </p:nvSpPr>
        <p:spPr>
          <a:xfrm>
            <a:off x="7918704" y="5180076"/>
            <a:ext cx="108813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Mistake</a:t>
            </a:r>
          </a:p>
        </p:txBody>
      </p:sp>
      <p:sp>
        <p:nvSpPr>
          <p:cNvPr id="43" name="Shape 39"/>
          <p:cNvSpPr/>
          <p:nvPr/>
        </p:nvSpPr>
        <p:spPr>
          <a:xfrm>
            <a:off x="9079992" y="5084064"/>
            <a:ext cx="201168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0"/>
          <p:cNvSpPr/>
          <p:nvPr/>
        </p:nvSpPr>
        <p:spPr>
          <a:xfrm>
            <a:off x="9153144" y="5180076"/>
            <a:ext cx="18653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复练状态</a:t>
            </a:r>
          </a:p>
        </p:txBody>
      </p:sp>
      <p:sp>
        <p:nvSpPr>
          <p:cNvPr id="45" name="Shape 41"/>
          <p:cNvSpPr/>
          <p:nvPr/>
        </p:nvSpPr>
        <p:spPr>
          <a:xfrm>
            <a:off x="7845552" y="5340096"/>
            <a:ext cx="1234440" cy="256032"/>
          </a:xfrm>
          <a:prstGeom prst="rect">
            <a:avLst/>
          </a:prstGeom>
          <a:solidFill>
            <a:srgbClr val="F0F8F1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2"/>
          <p:cNvSpPr/>
          <p:nvPr/>
        </p:nvSpPr>
        <p:spPr>
          <a:xfrm>
            <a:off x="7918704" y="5436108"/>
            <a:ext cx="108813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UserSetting</a:t>
            </a:r>
          </a:p>
        </p:txBody>
      </p:sp>
      <p:sp>
        <p:nvSpPr>
          <p:cNvPr id="47" name="Shape 43"/>
          <p:cNvSpPr/>
          <p:nvPr/>
        </p:nvSpPr>
        <p:spPr>
          <a:xfrm>
            <a:off x="9079992" y="5340096"/>
            <a:ext cx="2011680" cy="256032"/>
          </a:xfrm>
          <a:prstGeom prst="rect">
            <a:avLst/>
          </a:prstGeom>
          <a:solidFill>
            <a:srgbClr val="F0F8F1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4"/>
          <p:cNvSpPr/>
          <p:nvPr/>
        </p:nvSpPr>
        <p:spPr>
          <a:xfrm>
            <a:off x="9153144" y="5436108"/>
            <a:ext cx="18653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学习偏好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530352" y="6217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生成链路：不让模型输出直接进入业务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9224" y="1335024"/>
            <a:ext cx="6976872" cy="438912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0" descr="E:\托业\output\presentation\assets\uml-sequence-ai-generatio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800" y="1371600"/>
            <a:ext cx="6903720" cy="43159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67131" y="1042162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F2A45D">
              <a:alpha val="94000"/>
            </a:srgbClr>
          </a:solidFill>
          <a:ln w="12700">
            <a:solidFill>
              <a:srgbClr val="F2A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749300" y="1120140"/>
            <a:ext cx="2346325" cy="1098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UML 时序图：AI 生成调用链</a:t>
            </a:r>
          </a:p>
        </p:txBody>
      </p:sp>
      <p:sp>
        <p:nvSpPr>
          <p:cNvPr id="20" name="Text 16"/>
          <p:cNvSpPr/>
          <p:nvPr/>
        </p:nvSpPr>
        <p:spPr>
          <a:xfrm>
            <a:off x="7790688" y="148132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2A4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交互设计解释</a:t>
            </a:r>
          </a:p>
        </p:txBody>
      </p:sp>
      <p:sp>
        <p:nvSpPr>
          <p:cNvPr id="21" name="Shape 17"/>
          <p:cNvSpPr/>
          <p:nvPr/>
        </p:nvSpPr>
        <p:spPr>
          <a:xfrm>
            <a:off x="7790688" y="1920240"/>
            <a:ext cx="91440" cy="91440"/>
          </a:xfrm>
          <a:prstGeom prst="ellipse">
            <a:avLst/>
          </a:prstGeom>
          <a:solidFill>
            <a:srgbClr val="F2A45D"/>
          </a:solidFill>
          <a:ln w="1270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7992110" y="1865630"/>
            <a:ext cx="3950335" cy="238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 Route、MaaS Client、MaaS 服务、SQLite 分工明确</a:t>
            </a:r>
          </a:p>
        </p:txBody>
      </p:sp>
      <p:sp>
        <p:nvSpPr>
          <p:cNvPr id="23" name="Shape 19"/>
          <p:cNvSpPr/>
          <p:nvPr/>
        </p:nvSpPr>
        <p:spPr>
          <a:xfrm>
            <a:off x="7790688" y="2331720"/>
            <a:ext cx="91440" cy="91440"/>
          </a:xfrm>
          <a:prstGeom prst="ellipse">
            <a:avLst/>
          </a:prstGeom>
          <a:solidFill>
            <a:srgbClr val="F2A45D"/>
          </a:solidFill>
          <a:ln w="1270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0"/>
          <p:cNvSpPr/>
          <p:nvPr/>
        </p:nvSpPr>
        <p:spPr>
          <a:xfrm>
            <a:off x="7992110" y="2277110"/>
            <a:ext cx="3601720" cy="2349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时序图把一次生成请求拆成可检查的消息传递过程</a:t>
            </a:r>
          </a:p>
        </p:txBody>
      </p:sp>
      <p:sp>
        <p:nvSpPr>
          <p:cNvPr id="25" name="Shape 21"/>
          <p:cNvSpPr/>
          <p:nvPr/>
        </p:nvSpPr>
        <p:spPr>
          <a:xfrm>
            <a:off x="7790688" y="2743200"/>
            <a:ext cx="91440" cy="91440"/>
          </a:xfrm>
          <a:prstGeom prst="ellipse">
            <a:avLst/>
          </a:prstGeom>
          <a:solidFill>
            <a:srgbClr val="F2A45D"/>
          </a:solidFill>
          <a:ln w="1270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7992110" y="2688590"/>
            <a:ext cx="3544570" cy="2273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时序图说明对象之间按什么顺序通信，哪里做校验和落库</a:t>
            </a:r>
          </a:p>
        </p:txBody>
      </p:sp>
      <p:sp>
        <p:nvSpPr>
          <p:cNvPr id="27" name="Shape 23"/>
          <p:cNvSpPr/>
          <p:nvPr/>
        </p:nvSpPr>
        <p:spPr>
          <a:xfrm>
            <a:off x="7790688" y="3154680"/>
            <a:ext cx="91440" cy="91440"/>
          </a:xfrm>
          <a:prstGeom prst="ellipse">
            <a:avLst/>
          </a:prstGeom>
          <a:solidFill>
            <a:srgbClr val="F2A45D"/>
          </a:solidFill>
          <a:ln w="1270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7992110" y="3100070"/>
            <a:ext cx="3571240" cy="2146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模型输出只作为候选结果，必须经过解析和字段校验</a:t>
            </a:r>
          </a:p>
        </p:txBody>
      </p:sp>
      <p:sp>
        <p:nvSpPr>
          <p:cNvPr id="30" name="Text 26"/>
          <p:cNvSpPr/>
          <p:nvPr/>
        </p:nvSpPr>
        <p:spPr>
          <a:xfrm>
            <a:off x="7790688" y="449884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边界意识</a:t>
            </a:r>
          </a:p>
        </p:txBody>
      </p:sp>
      <p:sp>
        <p:nvSpPr>
          <p:cNvPr id="31" name="Shape 27"/>
          <p:cNvSpPr/>
          <p:nvPr/>
        </p:nvSpPr>
        <p:spPr>
          <a:xfrm>
            <a:off x="7790688" y="4937760"/>
            <a:ext cx="91440" cy="91440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8"/>
          <p:cNvSpPr/>
          <p:nvPr/>
        </p:nvSpPr>
        <p:spPr>
          <a:xfrm>
            <a:off x="7991856" y="4882896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前端只发起请求</a:t>
            </a:r>
          </a:p>
        </p:txBody>
      </p:sp>
      <p:sp>
        <p:nvSpPr>
          <p:cNvPr id="33" name="Shape 29"/>
          <p:cNvSpPr/>
          <p:nvPr/>
        </p:nvSpPr>
        <p:spPr>
          <a:xfrm>
            <a:off x="7790688" y="5349240"/>
            <a:ext cx="91440" cy="91440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0"/>
          <p:cNvSpPr/>
          <p:nvPr/>
        </p:nvSpPr>
        <p:spPr>
          <a:xfrm>
            <a:off x="7991856" y="5294376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服务端持有 Key 并校验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7790688" y="5760720"/>
            <a:ext cx="91440" cy="91440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2"/>
          <p:cNvSpPr/>
          <p:nvPr/>
        </p:nvSpPr>
        <p:spPr>
          <a:xfrm>
            <a:off x="7991856" y="5705856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数据库只保存合法结构</a:t>
            </a:r>
            <a:endParaRPr lang="en-US" sz="1200" dirty="0"/>
          </a:p>
        </p:txBody>
      </p:sp>
    </p:spTree>
  </p:cSld>
  <p:clrMapOvr>
    <a:masterClrMapping/>
  </p:clrMapOvr>
  <p:transition spd="med">
    <p:wipe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530352" y="6217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听力练习：隐藏选项让训练更接近真实考试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1792" y="1444752"/>
            <a:ext cx="6638544" cy="41148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658749" y="1115695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235448">
              <a:alpha val="94000"/>
            </a:srgbClr>
          </a:solidFill>
          <a:ln w="12700">
            <a:solidFill>
              <a:srgbClr val="2354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831850" y="1243584"/>
            <a:ext cx="2240280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听力桌面页</a:t>
            </a:r>
          </a:p>
        </p:txBody>
      </p:sp>
      <p:sp>
        <p:nvSpPr>
          <p:cNvPr id="19" name="Shape 15"/>
          <p:cNvSpPr/>
          <p:nvPr/>
        </p:nvSpPr>
        <p:spPr>
          <a:xfrm>
            <a:off x="7498080" y="1408176"/>
            <a:ext cx="1463040" cy="416966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1" descr="E:\托业\output\playwright\v1-4-listening-mobil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534656" y="1444752"/>
            <a:ext cx="1389888" cy="409651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662672" y="1115949"/>
            <a:ext cx="1133856" cy="292608"/>
          </a:xfrm>
          <a:prstGeom prst="roundRect">
            <a:avLst>
              <a:gd name="adj" fmla="val 15625"/>
            </a:avLst>
          </a:prstGeom>
          <a:solidFill>
            <a:srgbClr val="F2A45D">
              <a:alpha val="94000"/>
            </a:srgbClr>
          </a:solidFill>
          <a:ln w="12700">
            <a:solidFill>
              <a:srgbClr val="F2A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7790688" y="1224788"/>
            <a:ext cx="877824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移动端</a:t>
            </a:r>
          </a:p>
        </p:txBody>
      </p:sp>
      <p:sp>
        <p:nvSpPr>
          <p:cNvPr id="23" name="Shape 18"/>
          <p:cNvSpPr/>
          <p:nvPr/>
        </p:nvSpPr>
        <p:spPr>
          <a:xfrm>
            <a:off x="9235440" y="1572768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DDF5E8"/>
          </a:solidFill>
          <a:ln w="1524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9"/>
          <p:cNvSpPr/>
          <p:nvPr/>
        </p:nvSpPr>
        <p:spPr>
          <a:xfrm>
            <a:off x="9400032" y="1773936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答题前只显示 A/B/C/D 和隐藏提示</a:t>
            </a:r>
          </a:p>
        </p:txBody>
      </p:sp>
      <p:sp>
        <p:nvSpPr>
          <p:cNvPr id="25" name="Shape 20"/>
          <p:cNvSpPr/>
          <p:nvPr/>
        </p:nvSpPr>
        <p:spPr>
          <a:xfrm>
            <a:off x="9235440" y="2715768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/>
        </p:nvSpPr>
        <p:spPr>
          <a:xfrm>
            <a:off x="9400032" y="2979166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 Speech 播放听力脚本</a:t>
            </a:r>
          </a:p>
        </p:txBody>
      </p:sp>
      <p:sp>
        <p:nvSpPr>
          <p:cNvPr id="27" name="Shape 22"/>
          <p:cNvSpPr/>
          <p:nvPr/>
        </p:nvSpPr>
        <p:spPr>
          <a:xfrm>
            <a:off x="9235440" y="3858768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9400032" y="4096766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提交后展示答案、解析与选项正文</a:t>
            </a:r>
          </a:p>
        </p:txBody>
      </p:sp>
      <p:sp>
        <p:nvSpPr>
          <p:cNvPr id="29" name="Shape 24"/>
          <p:cNvSpPr/>
          <p:nvPr/>
        </p:nvSpPr>
        <p:spPr>
          <a:xfrm>
            <a:off x="7223760" y="3063240"/>
            <a:ext cx="292608" cy="0"/>
          </a:xfrm>
          <a:prstGeom prst="line">
            <a:avLst/>
          </a:prstGeom>
          <a:noFill/>
          <a:ln w="20320">
            <a:solidFill>
              <a:srgbClr val="F2A4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5" y="1444625"/>
            <a:ext cx="6969760" cy="412051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530352" y="6217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语法练习：生成题变成可复盘的知识点训练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1792" y="1444752"/>
            <a:ext cx="6638544" cy="41148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667639" y="1138555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235448">
              <a:alpha val="94000"/>
            </a:srgbClr>
          </a:solidFill>
          <a:ln w="12700">
            <a:solidFill>
              <a:srgbClr val="2354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914400" y="1243584"/>
            <a:ext cx="2240280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语法桌面页</a:t>
            </a:r>
          </a:p>
        </p:txBody>
      </p:sp>
      <p:sp>
        <p:nvSpPr>
          <p:cNvPr id="19" name="Shape 15"/>
          <p:cNvSpPr/>
          <p:nvPr/>
        </p:nvSpPr>
        <p:spPr>
          <a:xfrm>
            <a:off x="7498080" y="1408176"/>
            <a:ext cx="1463040" cy="416966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1" descr="E:\托业\output\playwright\v1-4-grammar-mobil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534656" y="1444752"/>
            <a:ext cx="1389888" cy="409651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662672" y="1115949"/>
            <a:ext cx="1133856" cy="292608"/>
          </a:xfrm>
          <a:prstGeom prst="roundRect">
            <a:avLst>
              <a:gd name="adj" fmla="val 15625"/>
            </a:avLst>
          </a:prstGeom>
          <a:solidFill>
            <a:srgbClr val="F2A45D">
              <a:alpha val="94000"/>
            </a:srgbClr>
          </a:solidFill>
          <a:ln w="12700">
            <a:solidFill>
              <a:srgbClr val="F2A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7790688" y="1224788"/>
            <a:ext cx="877824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移动端</a:t>
            </a:r>
          </a:p>
        </p:txBody>
      </p:sp>
      <p:sp>
        <p:nvSpPr>
          <p:cNvPr id="23" name="Shape 18"/>
          <p:cNvSpPr/>
          <p:nvPr/>
        </p:nvSpPr>
        <p:spPr>
          <a:xfrm>
            <a:off x="9235440" y="1572768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DDF5E8"/>
          </a:solidFill>
          <a:ln w="1524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9"/>
          <p:cNvSpPr/>
          <p:nvPr/>
        </p:nvSpPr>
        <p:spPr>
          <a:xfrm>
            <a:off x="9400032" y="1865376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选择语法点、难度和题量</a:t>
            </a:r>
          </a:p>
        </p:txBody>
      </p:sp>
      <p:sp>
        <p:nvSpPr>
          <p:cNvPr id="25" name="Shape 20"/>
          <p:cNvSpPr/>
          <p:nvPr/>
        </p:nvSpPr>
        <p:spPr>
          <a:xfrm>
            <a:off x="9235440" y="2715768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/>
        </p:nvSpPr>
        <p:spPr>
          <a:xfrm>
            <a:off x="9400032" y="2979166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提交后即时反馈</a:t>
            </a:r>
          </a:p>
        </p:txBody>
      </p:sp>
      <p:sp>
        <p:nvSpPr>
          <p:cNvPr id="27" name="Shape 22"/>
          <p:cNvSpPr/>
          <p:nvPr/>
        </p:nvSpPr>
        <p:spPr>
          <a:xfrm>
            <a:off x="9235440" y="3858768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9400032" y="4141851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中文解析与语法点一起沉淀</a:t>
            </a:r>
          </a:p>
        </p:txBody>
      </p:sp>
      <p:sp>
        <p:nvSpPr>
          <p:cNvPr id="29" name="Shape 24"/>
          <p:cNvSpPr/>
          <p:nvPr/>
        </p:nvSpPr>
        <p:spPr>
          <a:xfrm>
            <a:off x="7223760" y="3063240"/>
            <a:ext cx="292608" cy="0"/>
          </a:xfrm>
          <a:prstGeom prst="line">
            <a:avLst/>
          </a:prstGeom>
          <a:noFill/>
          <a:ln w="20320">
            <a:solidFill>
              <a:srgbClr val="F2A4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45" y="1445260"/>
            <a:ext cx="6731635" cy="4126865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530352" y="6217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错题本：让每一次错误都变成下一次练习入口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1792" y="1426464"/>
            <a:ext cx="3959352" cy="4233672"/>
          </a:xfrm>
          <a:prstGeom prst="roundRect">
            <a:avLst>
              <a:gd name="adj" fmla="val 924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0" descr="E:\托业\output\playwright\public-desktop-mistake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8368" y="1463040"/>
            <a:ext cx="3886200" cy="41605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86054" y="1124077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F2A45D">
              <a:alpha val="94000"/>
            </a:srgbClr>
          </a:solidFill>
          <a:ln w="12700">
            <a:solidFill>
              <a:srgbClr val="F2A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914400" y="1242441"/>
            <a:ext cx="2240280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错题长图局部</a:t>
            </a:r>
          </a:p>
        </p:txBody>
      </p:sp>
      <p:sp>
        <p:nvSpPr>
          <p:cNvPr id="19" name="Shape 15"/>
          <p:cNvSpPr/>
          <p:nvPr/>
        </p:nvSpPr>
        <p:spPr>
          <a:xfrm>
            <a:off x="4764024" y="1563624"/>
            <a:ext cx="2999232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1" descr="E:\托业\output\playwright\public-desktop-mistake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00600" y="1600200"/>
            <a:ext cx="2926080" cy="192024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928616" y="1270762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3B8F6E">
              <a:alpha val="94000"/>
            </a:srgbClr>
          </a:solidFill>
          <a:ln w="12700">
            <a:solidFill>
              <a:srgbClr val="3B8F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5056632" y="1380236"/>
            <a:ext cx="2240280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列表与状态</a:t>
            </a:r>
          </a:p>
        </p:txBody>
      </p:sp>
      <p:sp>
        <p:nvSpPr>
          <p:cNvPr id="23" name="Shape 18"/>
          <p:cNvSpPr/>
          <p:nvPr/>
        </p:nvSpPr>
        <p:spPr>
          <a:xfrm>
            <a:off x="8065008" y="1563624"/>
            <a:ext cx="2999232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2" descr="E:\托业\output\playwright\public-desktop-mistake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01584" y="1600200"/>
            <a:ext cx="2926080" cy="19202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229600" y="1270762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5B8DEF">
              <a:alpha val="94000"/>
            </a:srgbClr>
          </a:solidFill>
          <a:ln w="12700">
            <a:solidFill>
              <a:srgbClr val="5B8D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0"/>
          <p:cNvSpPr/>
          <p:nvPr/>
        </p:nvSpPr>
        <p:spPr>
          <a:xfrm>
            <a:off x="8357616" y="1380236"/>
            <a:ext cx="2240280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复练入口</a:t>
            </a:r>
          </a:p>
        </p:txBody>
      </p:sp>
      <p:sp>
        <p:nvSpPr>
          <p:cNvPr id="28" name="Text 22"/>
          <p:cNvSpPr/>
          <p:nvPr/>
        </p:nvSpPr>
        <p:spPr>
          <a:xfrm>
            <a:off x="4892040" y="422452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2A4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错题状态设计</a:t>
            </a:r>
          </a:p>
        </p:txBody>
      </p:sp>
      <p:sp>
        <p:nvSpPr>
          <p:cNvPr id="29" name="Shape 23"/>
          <p:cNvSpPr/>
          <p:nvPr/>
        </p:nvSpPr>
        <p:spPr>
          <a:xfrm>
            <a:off x="4892040" y="4663440"/>
            <a:ext cx="91440" cy="91440"/>
          </a:xfrm>
          <a:prstGeom prst="ellipse">
            <a:avLst/>
          </a:prstGeom>
          <a:solidFill>
            <a:srgbClr val="F2A45D"/>
          </a:solidFill>
          <a:ln w="1270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4"/>
          <p:cNvSpPr/>
          <p:nvPr/>
        </p:nvSpPr>
        <p:spPr>
          <a:xfrm>
            <a:off x="5093208" y="4608576"/>
            <a:ext cx="58521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new：首次答错，需要复习</a:t>
            </a:r>
          </a:p>
        </p:txBody>
      </p:sp>
      <p:sp>
        <p:nvSpPr>
          <p:cNvPr id="31" name="Shape 25"/>
          <p:cNvSpPr/>
          <p:nvPr/>
        </p:nvSpPr>
        <p:spPr>
          <a:xfrm>
            <a:off x="4892040" y="5074920"/>
            <a:ext cx="91440" cy="91440"/>
          </a:xfrm>
          <a:prstGeom prst="ellipse">
            <a:avLst/>
          </a:prstGeom>
          <a:solidFill>
            <a:srgbClr val="F2A45D"/>
          </a:solidFill>
          <a:ln w="1270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6"/>
          <p:cNvSpPr/>
          <p:nvPr/>
        </p:nvSpPr>
        <p:spPr>
          <a:xfrm>
            <a:off x="5093208" y="5020056"/>
            <a:ext cx="58521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reviewing：重复答错，优先级提高</a:t>
            </a:r>
          </a:p>
        </p:txBody>
      </p:sp>
      <p:sp>
        <p:nvSpPr>
          <p:cNvPr id="33" name="Shape 27"/>
          <p:cNvSpPr/>
          <p:nvPr/>
        </p:nvSpPr>
        <p:spPr>
          <a:xfrm>
            <a:off x="4892040" y="5486400"/>
            <a:ext cx="91440" cy="91440"/>
          </a:xfrm>
          <a:prstGeom prst="ellipse">
            <a:avLst/>
          </a:prstGeom>
          <a:solidFill>
            <a:srgbClr val="F2A45D"/>
          </a:solidFill>
          <a:ln w="1270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8"/>
          <p:cNvSpPr/>
          <p:nvPr/>
        </p:nvSpPr>
        <p:spPr>
          <a:xfrm>
            <a:off x="5093208" y="5431536"/>
            <a:ext cx="58521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mastered / removed：完成掌握或软移除</a:t>
            </a:r>
          </a:p>
        </p:txBody>
      </p:sp>
    </p:spTree>
  </p:cSld>
  <p:clrMapOvr>
    <a:masterClrMapping/>
  </p:clrMapOvr>
  <p:transition spd="med">
    <p:wipe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530352" y="6217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学习统计：把练习结果变成可行动反馈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1792" y="1408176"/>
            <a:ext cx="6016752" cy="4050792"/>
          </a:xfrm>
          <a:prstGeom prst="roundRect">
            <a:avLst>
              <a:gd name="adj" fmla="val 903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0" descr="E:\托业\output\playwright\v1-7-stats-chart-color-fix-deskto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8368" y="1444752"/>
            <a:ext cx="5943600" cy="3977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1919" y="1088009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3B8F6E">
              <a:alpha val="94000"/>
            </a:srgbClr>
          </a:solidFill>
          <a:ln w="12700">
            <a:solidFill>
              <a:srgbClr val="3B8F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749935" y="1206373"/>
            <a:ext cx="2240280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统计桌面页</a:t>
            </a:r>
          </a:p>
        </p:txBody>
      </p:sp>
      <p:sp>
        <p:nvSpPr>
          <p:cNvPr id="19" name="Shape 15"/>
          <p:cNvSpPr/>
          <p:nvPr/>
        </p:nvSpPr>
        <p:spPr>
          <a:xfrm>
            <a:off x="6894576" y="1380744"/>
            <a:ext cx="1627632" cy="41422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1" descr="E:\托业\output\playwright\v1-7-stats-mobil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931152" y="1417320"/>
            <a:ext cx="1554480" cy="40690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930898" y="1087882"/>
            <a:ext cx="1298448" cy="292608"/>
          </a:xfrm>
          <a:prstGeom prst="roundRect">
            <a:avLst>
              <a:gd name="adj" fmla="val 15625"/>
            </a:avLst>
          </a:prstGeom>
          <a:solidFill>
            <a:srgbClr val="F2A45D">
              <a:alpha val="94000"/>
            </a:srgbClr>
          </a:solidFill>
          <a:ln w="12700">
            <a:solidFill>
              <a:srgbClr val="F2A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7059549" y="1210691"/>
            <a:ext cx="1042416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移动统计</a:t>
            </a:r>
          </a:p>
        </p:txBody>
      </p:sp>
      <p:sp>
        <p:nvSpPr>
          <p:cNvPr id="24" name="Text 19"/>
          <p:cNvSpPr/>
          <p:nvPr/>
        </p:nvSpPr>
        <p:spPr>
          <a:xfrm>
            <a:off x="8915400" y="1600200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可行动反馈</a:t>
            </a:r>
          </a:p>
        </p:txBody>
      </p:sp>
      <p:sp>
        <p:nvSpPr>
          <p:cNvPr id="25" name="Shape 20"/>
          <p:cNvSpPr/>
          <p:nvPr/>
        </p:nvSpPr>
        <p:spPr>
          <a:xfrm>
            <a:off x="8915400" y="2039112"/>
            <a:ext cx="91440" cy="91440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/>
        </p:nvSpPr>
        <p:spPr>
          <a:xfrm>
            <a:off x="9116695" y="1984375"/>
            <a:ext cx="3075305" cy="2355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今日练习与正确率用于短期节奏判断</a:t>
            </a:r>
          </a:p>
        </p:txBody>
      </p:sp>
      <p:sp>
        <p:nvSpPr>
          <p:cNvPr id="27" name="Shape 22"/>
          <p:cNvSpPr/>
          <p:nvPr/>
        </p:nvSpPr>
        <p:spPr>
          <a:xfrm>
            <a:off x="8915400" y="2450592"/>
            <a:ext cx="91440" cy="91440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9116568" y="239572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天趋势帮助观察连续性</a:t>
            </a:r>
          </a:p>
        </p:txBody>
      </p:sp>
      <p:sp>
        <p:nvSpPr>
          <p:cNvPr id="29" name="Shape 24"/>
          <p:cNvSpPr/>
          <p:nvPr/>
        </p:nvSpPr>
        <p:spPr>
          <a:xfrm>
            <a:off x="8915400" y="2862072"/>
            <a:ext cx="91440" cy="91440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5"/>
          <p:cNvSpPr/>
          <p:nvPr/>
        </p:nvSpPr>
        <p:spPr>
          <a:xfrm>
            <a:off x="9116695" y="2807335"/>
            <a:ext cx="2747010" cy="2362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薄弱标签引导下一轮训练重点</a:t>
            </a:r>
          </a:p>
        </p:txBody>
      </p:sp>
      <p:sp>
        <p:nvSpPr>
          <p:cNvPr id="37" name="Shape 32"/>
          <p:cNvSpPr/>
          <p:nvPr/>
        </p:nvSpPr>
        <p:spPr>
          <a:xfrm>
            <a:off x="10036912" y="5055718"/>
            <a:ext cx="0" cy="0"/>
          </a:xfrm>
          <a:prstGeom prst="line">
            <a:avLst/>
          </a:prstGeom>
          <a:noFill/>
          <a:ln w="381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split orient="vert"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530352" y="6217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UI 迭代：从可用页面到适合课堂展示的学习产品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1216152"/>
            <a:ext cx="987552" cy="0"/>
          </a:xfrm>
          <a:prstGeom prst="line">
            <a:avLst/>
          </a:prstGeom>
          <a:noFill/>
          <a:ln w="3175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14400" y="1874520"/>
            <a:ext cx="585216" cy="585216"/>
          </a:xfrm>
          <a:prstGeom prst="ellipse">
            <a:avLst/>
          </a:prstGeom>
          <a:solidFill>
            <a:srgbClr val="3B8F6E"/>
          </a:solidFill>
          <a:ln w="1270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987425" y="2157857"/>
            <a:ext cx="411480" cy="731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V1.1</a:t>
            </a:r>
          </a:p>
        </p:txBody>
      </p:sp>
      <p:sp>
        <p:nvSpPr>
          <p:cNvPr id="17" name="Shape 14"/>
          <p:cNvSpPr/>
          <p:nvPr/>
        </p:nvSpPr>
        <p:spPr>
          <a:xfrm>
            <a:off x="1554480" y="2167128"/>
            <a:ext cx="658368" cy="502920"/>
          </a:xfrm>
          <a:prstGeom prst="line">
            <a:avLst/>
          </a:prstGeom>
          <a:noFill/>
          <a:ln w="15240">
            <a:solidFill>
              <a:srgbClr val="3B8F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685800" y="2651760"/>
            <a:ext cx="11430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真实统计 + 练习工作区 UI 打磨</a:t>
            </a:r>
          </a:p>
        </p:txBody>
      </p:sp>
      <p:sp>
        <p:nvSpPr>
          <p:cNvPr id="19" name="Shape 16"/>
          <p:cNvSpPr/>
          <p:nvPr/>
        </p:nvSpPr>
        <p:spPr>
          <a:xfrm>
            <a:off x="2377440" y="2377440"/>
            <a:ext cx="585216" cy="58521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2464435" y="2651887"/>
            <a:ext cx="411480" cy="731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V1.2</a:t>
            </a:r>
          </a:p>
        </p:txBody>
      </p:sp>
      <p:sp>
        <p:nvSpPr>
          <p:cNvPr id="21" name="Shape 18"/>
          <p:cNvSpPr/>
          <p:nvPr/>
        </p:nvSpPr>
        <p:spPr>
          <a:xfrm>
            <a:off x="3017520" y="2670048"/>
            <a:ext cx="658368" cy="0"/>
          </a:xfrm>
          <a:prstGeom prst="line">
            <a:avLst/>
          </a:prstGeom>
          <a:noFill/>
          <a:ln w="15240">
            <a:solidFill>
              <a:srgbClr val="3B8F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2148840" y="3154680"/>
            <a:ext cx="1340485" cy="3473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Motion 动效、动态背景、卡通贴纸</a:t>
            </a:r>
          </a:p>
        </p:txBody>
      </p:sp>
      <p:sp>
        <p:nvSpPr>
          <p:cNvPr id="23" name="Shape 20"/>
          <p:cNvSpPr/>
          <p:nvPr/>
        </p:nvSpPr>
        <p:spPr>
          <a:xfrm>
            <a:off x="3840480" y="1874520"/>
            <a:ext cx="585216" cy="585216"/>
          </a:xfrm>
          <a:prstGeom prst="ellipse">
            <a:avLst/>
          </a:prstGeom>
          <a:solidFill>
            <a:srgbClr val="F2A45D"/>
          </a:solidFill>
          <a:ln w="1270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3927475" y="2157857"/>
            <a:ext cx="411480" cy="731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V1.3</a:t>
            </a:r>
          </a:p>
        </p:txBody>
      </p:sp>
      <p:sp>
        <p:nvSpPr>
          <p:cNvPr id="25" name="Shape 22"/>
          <p:cNvSpPr/>
          <p:nvPr/>
        </p:nvSpPr>
        <p:spPr>
          <a:xfrm>
            <a:off x="4480560" y="2167128"/>
            <a:ext cx="658368" cy="502920"/>
          </a:xfrm>
          <a:prstGeom prst="line">
            <a:avLst/>
          </a:prstGeom>
          <a:noFill/>
          <a:ln w="15240">
            <a:solidFill>
              <a:srgbClr val="3B8F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3611880" y="2651760"/>
            <a:ext cx="11430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生成中状态、进度条、完成面板</a:t>
            </a:r>
          </a:p>
        </p:txBody>
      </p:sp>
      <p:sp>
        <p:nvSpPr>
          <p:cNvPr id="27" name="Shape 24"/>
          <p:cNvSpPr/>
          <p:nvPr/>
        </p:nvSpPr>
        <p:spPr>
          <a:xfrm>
            <a:off x="5303520" y="2377440"/>
            <a:ext cx="585216" cy="585216"/>
          </a:xfrm>
          <a:prstGeom prst="ellipse">
            <a:avLst/>
          </a:prstGeom>
          <a:solidFill>
            <a:srgbClr val="E8868B"/>
          </a:solidFill>
          <a:ln w="12700">
            <a:solidFill>
              <a:srgbClr val="E886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5364480" y="2651887"/>
            <a:ext cx="411480" cy="731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V1.4</a:t>
            </a:r>
          </a:p>
        </p:txBody>
      </p:sp>
      <p:sp>
        <p:nvSpPr>
          <p:cNvPr id="29" name="Shape 26"/>
          <p:cNvSpPr/>
          <p:nvPr/>
        </p:nvSpPr>
        <p:spPr>
          <a:xfrm>
            <a:off x="5943600" y="2670048"/>
            <a:ext cx="658368" cy="0"/>
          </a:xfrm>
          <a:prstGeom prst="line">
            <a:avLst/>
          </a:prstGeom>
          <a:noFill/>
          <a:ln w="15240">
            <a:solidFill>
              <a:srgbClr val="3B8F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5074920" y="3154680"/>
            <a:ext cx="11430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指标卡片对齐与响应式巡检</a:t>
            </a:r>
          </a:p>
        </p:txBody>
      </p:sp>
      <p:sp>
        <p:nvSpPr>
          <p:cNvPr id="31" name="Shape 28"/>
          <p:cNvSpPr/>
          <p:nvPr/>
        </p:nvSpPr>
        <p:spPr>
          <a:xfrm>
            <a:off x="6766560" y="1874520"/>
            <a:ext cx="585216" cy="5852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6853555" y="2157857"/>
            <a:ext cx="411480" cy="731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V1.5</a:t>
            </a:r>
          </a:p>
        </p:txBody>
      </p:sp>
      <p:sp>
        <p:nvSpPr>
          <p:cNvPr id="33" name="Shape 30"/>
          <p:cNvSpPr/>
          <p:nvPr/>
        </p:nvSpPr>
        <p:spPr>
          <a:xfrm>
            <a:off x="7406640" y="2167128"/>
            <a:ext cx="658368" cy="502920"/>
          </a:xfrm>
          <a:prstGeom prst="line">
            <a:avLst/>
          </a:prstGeom>
          <a:noFill/>
          <a:ln w="15240">
            <a:solidFill>
              <a:srgbClr val="3B8F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6537960" y="2651760"/>
            <a:ext cx="11430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错题重新练习闭环</a:t>
            </a:r>
          </a:p>
        </p:txBody>
      </p:sp>
      <p:sp>
        <p:nvSpPr>
          <p:cNvPr id="35" name="Shape 32"/>
          <p:cNvSpPr/>
          <p:nvPr/>
        </p:nvSpPr>
        <p:spPr>
          <a:xfrm>
            <a:off x="8229600" y="2377440"/>
            <a:ext cx="585216" cy="585216"/>
          </a:xfrm>
          <a:prstGeom prst="ellipse">
            <a:avLst/>
          </a:prstGeom>
          <a:solidFill>
            <a:srgbClr val="84D8D5"/>
          </a:solidFill>
          <a:ln w="12700">
            <a:solidFill>
              <a:srgbClr val="84D8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8229600" y="2648585"/>
            <a:ext cx="502920" cy="76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V1.6</a:t>
            </a:r>
          </a:p>
        </p:txBody>
      </p:sp>
      <p:sp>
        <p:nvSpPr>
          <p:cNvPr id="37" name="Shape 34"/>
          <p:cNvSpPr/>
          <p:nvPr/>
        </p:nvSpPr>
        <p:spPr>
          <a:xfrm>
            <a:off x="8869680" y="2670048"/>
            <a:ext cx="658368" cy="0"/>
          </a:xfrm>
          <a:prstGeom prst="line">
            <a:avLst/>
          </a:prstGeom>
          <a:noFill/>
          <a:ln w="15240">
            <a:solidFill>
              <a:srgbClr val="3B8F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8001000" y="3154680"/>
            <a:ext cx="11430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首页 Hero 今日计划卡片</a:t>
            </a:r>
          </a:p>
        </p:txBody>
      </p:sp>
      <p:sp>
        <p:nvSpPr>
          <p:cNvPr id="39" name="Shape 36"/>
          <p:cNvSpPr/>
          <p:nvPr/>
        </p:nvSpPr>
        <p:spPr>
          <a:xfrm>
            <a:off x="9692640" y="1874520"/>
            <a:ext cx="585216" cy="585216"/>
          </a:xfrm>
          <a:prstGeom prst="ellipse">
            <a:avLst/>
          </a:prstGeom>
          <a:solidFill>
            <a:srgbClr val="235448"/>
          </a:solidFill>
          <a:ln w="12700">
            <a:solidFill>
              <a:srgbClr val="235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9682480" y="2129155"/>
            <a:ext cx="595630" cy="76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V1.7</a:t>
            </a:r>
          </a:p>
        </p:txBody>
      </p:sp>
      <p:sp>
        <p:nvSpPr>
          <p:cNvPr id="41" name="Text 38"/>
          <p:cNvSpPr/>
          <p:nvPr/>
        </p:nvSpPr>
        <p:spPr>
          <a:xfrm>
            <a:off x="9464040" y="2651760"/>
            <a:ext cx="1665605" cy="3473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统计页卡通仪表盘</a:t>
            </a:r>
          </a:p>
        </p:txBody>
      </p:sp>
      <p:sp>
        <p:nvSpPr>
          <p:cNvPr id="42" name="Shape 39"/>
          <p:cNvSpPr/>
          <p:nvPr/>
        </p:nvSpPr>
        <p:spPr>
          <a:xfrm>
            <a:off x="950976" y="4187952"/>
            <a:ext cx="2953512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43" name="Image 0" descr="E:\托业\output\playwright\v1-6-home-deskto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7425" y="4224655"/>
            <a:ext cx="3145790" cy="1518285"/>
          </a:xfrm>
          <a:prstGeom prst="rect">
            <a:avLst/>
          </a:prstGeom>
        </p:spPr>
      </p:pic>
      <p:sp>
        <p:nvSpPr>
          <p:cNvPr id="44" name="Shape 40"/>
          <p:cNvSpPr/>
          <p:nvPr/>
        </p:nvSpPr>
        <p:spPr>
          <a:xfrm>
            <a:off x="1170178" y="389509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235448">
              <a:alpha val="94000"/>
            </a:srgbClr>
          </a:solidFill>
          <a:ln w="12700">
            <a:solidFill>
              <a:srgbClr val="2354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1"/>
          <p:cNvSpPr/>
          <p:nvPr/>
        </p:nvSpPr>
        <p:spPr>
          <a:xfrm>
            <a:off x="1308354" y="4005199"/>
            <a:ext cx="2240280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首页</a:t>
            </a:r>
          </a:p>
        </p:txBody>
      </p:sp>
      <p:sp>
        <p:nvSpPr>
          <p:cNvPr id="46" name="Shape 42"/>
          <p:cNvSpPr/>
          <p:nvPr/>
        </p:nvSpPr>
        <p:spPr>
          <a:xfrm>
            <a:off x="4489704" y="4187952"/>
            <a:ext cx="2953512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47" name="Image 1" descr="E:\托业\output\playwright\v1-7-stats-chart-color-fix-deskto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357370" y="4187190"/>
            <a:ext cx="3146425" cy="1555750"/>
          </a:xfrm>
          <a:prstGeom prst="rect">
            <a:avLst/>
          </a:prstGeom>
        </p:spPr>
      </p:pic>
      <p:sp>
        <p:nvSpPr>
          <p:cNvPr id="48" name="Shape 43"/>
          <p:cNvSpPr/>
          <p:nvPr/>
        </p:nvSpPr>
        <p:spPr>
          <a:xfrm>
            <a:off x="4654296" y="3867785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F2A45D">
              <a:alpha val="94000"/>
            </a:srgbClr>
          </a:solidFill>
          <a:ln w="12700">
            <a:solidFill>
              <a:srgbClr val="F2A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4"/>
          <p:cNvSpPr/>
          <p:nvPr/>
        </p:nvSpPr>
        <p:spPr>
          <a:xfrm>
            <a:off x="4755007" y="4005199"/>
            <a:ext cx="2240280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统计页</a:t>
            </a:r>
          </a:p>
        </p:txBody>
      </p:sp>
      <p:sp>
        <p:nvSpPr>
          <p:cNvPr id="50" name="Shape 45"/>
          <p:cNvSpPr/>
          <p:nvPr/>
        </p:nvSpPr>
        <p:spPr>
          <a:xfrm>
            <a:off x="7973568" y="4005072"/>
            <a:ext cx="1005840" cy="1828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1" name="Image 2" descr="E:\托业\output\playwright\v1-6-home-mobil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974330" y="4041775"/>
            <a:ext cx="1063625" cy="2002790"/>
          </a:xfrm>
          <a:prstGeom prst="rect">
            <a:avLst/>
          </a:prstGeom>
        </p:spPr>
      </p:pic>
      <p:sp>
        <p:nvSpPr>
          <p:cNvPr id="52" name="Shape 46"/>
          <p:cNvSpPr/>
          <p:nvPr/>
        </p:nvSpPr>
        <p:spPr>
          <a:xfrm>
            <a:off x="7975600" y="3712210"/>
            <a:ext cx="1004570" cy="292735"/>
          </a:xfrm>
          <a:prstGeom prst="roundRect">
            <a:avLst>
              <a:gd name="adj" fmla="val 15625"/>
            </a:avLst>
          </a:prstGeom>
          <a:solidFill>
            <a:srgbClr val="5B8DEF">
              <a:alpha val="94000"/>
            </a:srgbClr>
          </a:solidFill>
          <a:ln w="12700">
            <a:solidFill>
              <a:srgbClr val="5B8D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47"/>
          <p:cNvSpPr/>
          <p:nvPr/>
        </p:nvSpPr>
        <p:spPr>
          <a:xfrm>
            <a:off x="8001000" y="3812540"/>
            <a:ext cx="957580" cy="1250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移动端</a:t>
            </a:r>
          </a:p>
        </p:txBody>
      </p:sp>
      <p:sp>
        <p:nvSpPr>
          <p:cNvPr id="54" name="Shape 48"/>
          <p:cNvSpPr/>
          <p:nvPr/>
        </p:nvSpPr>
        <p:spPr>
          <a:xfrm>
            <a:off x="9153144" y="4005072"/>
            <a:ext cx="1005840" cy="1828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CFE3D7"/>
            </a:solidFill>
            <a:prstDash val="solid"/>
          </a:ln>
          <a:effectLst>
            <a:outerShdw blurRad="25400" dist="50800" dir="2700000" algn="bl" rotWithShape="0">
              <a:srgbClr val="A9B9B1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5" name="Image 3" descr="E:\托业\output\playwright\v1-7-stats-mobile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145270" y="4041775"/>
            <a:ext cx="1063625" cy="2002155"/>
          </a:xfrm>
          <a:prstGeom prst="rect">
            <a:avLst/>
          </a:prstGeom>
        </p:spPr>
      </p:pic>
      <p:sp>
        <p:nvSpPr>
          <p:cNvPr id="56" name="Shape 49"/>
          <p:cNvSpPr/>
          <p:nvPr/>
        </p:nvSpPr>
        <p:spPr>
          <a:xfrm>
            <a:off x="9159875" y="3712210"/>
            <a:ext cx="998855" cy="292735"/>
          </a:xfrm>
          <a:prstGeom prst="roundRect">
            <a:avLst>
              <a:gd name="adj" fmla="val 15625"/>
            </a:avLst>
          </a:prstGeom>
          <a:solidFill>
            <a:srgbClr val="5B8DEF">
              <a:alpha val="94000"/>
            </a:srgbClr>
          </a:solidFill>
          <a:ln w="12700">
            <a:solidFill>
              <a:srgbClr val="5B8D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0"/>
          <p:cNvSpPr/>
          <p:nvPr/>
        </p:nvSpPr>
        <p:spPr>
          <a:xfrm>
            <a:off x="9242425" y="3812540"/>
            <a:ext cx="826135" cy="1022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移动端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530352" y="6217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验收结果：功能、工程和安全都有记录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1216152"/>
            <a:ext cx="987552" cy="0"/>
          </a:xfrm>
          <a:prstGeom prst="line">
            <a:avLst/>
          </a:prstGeom>
          <a:noFill/>
          <a:ln w="3175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68680" y="1536192"/>
            <a:ext cx="2011680" cy="420624"/>
          </a:xfrm>
          <a:prstGeom prst="rect">
            <a:avLst/>
          </a:prstGeom>
          <a:solidFill>
            <a:srgbClr val="235448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941832" y="1733169"/>
            <a:ext cx="18653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验收项</a:t>
            </a:r>
          </a:p>
        </p:txBody>
      </p:sp>
      <p:sp>
        <p:nvSpPr>
          <p:cNvPr id="17" name="Shape 14"/>
          <p:cNvSpPr/>
          <p:nvPr/>
        </p:nvSpPr>
        <p:spPr>
          <a:xfrm>
            <a:off x="2880360" y="1536192"/>
            <a:ext cx="1828800" cy="420624"/>
          </a:xfrm>
          <a:prstGeom prst="rect">
            <a:avLst/>
          </a:prstGeom>
          <a:solidFill>
            <a:srgbClr val="235448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2953512" y="1733169"/>
            <a:ext cx="168249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</a:t>
            </a:r>
          </a:p>
        </p:txBody>
      </p:sp>
      <p:sp>
        <p:nvSpPr>
          <p:cNvPr id="19" name="Shape 16"/>
          <p:cNvSpPr/>
          <p:nvPr/>
        </p:nvSpPr>
        <p:spPr>
          <a:xfrm>
            <a:off x="4709160" y="1536192"/>
            <a:ext cx="6355080" cy="420624"/>
          </a:xfrm>
          <a:prstGeom prst="rect">
            <a:avLst/>
          </a:prstGeom>
          <a:solidFill>
            <a:srgbClr val="235448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4782312" y="1632204"/>
            <a:ext cx="62087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课堂说明</a:t>
            </a:r>
          </a:p>
        </p:txBody>
      </p:sp>
      <p:sp>
        <p:nvSpPr>
          <p:cNvPr id="21" name="Shape 18"/>
          <p:cNvSpPr/>
          <p:nvPr/>
        </p:nvSpPr>
        <p:spPr>
          <a:xfrm>
            <a:off x="868680" y="1956816"/>
            <a:ext cx="20116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941832" y="2153158"/>
            <a:ext cx="18653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lint</a:t>
            </a:r>
          </a:p>
        </p:txBody>
      </p:sp>
      <p:sp>
        <p:nvSpPr>
          <p:cNvPr id="23" name="Shape 20"/>
          <p:cNvSpPr/>
          <p:nvPr/>
        </p:nvSpPr>
        <p:spPr>
          <a:xfrm>
            <a:off x="2880360" y="1956816"/>
            <a:ext cx="1828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2953512" y="2153158"/>
            <a:ext cx="168249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PASS</a:t>
            </a:r>
          </a:p>
        </p:txBody>
      </p:sp>
      <p:sp>
        <p:nvSpPr>
          <p:cNvPr id="25" name="Shape 22"/>
          <p:cNvSpPr/>
          <p:nvPr/>
        </p:nvSpPr>
        <p:spPr>
          <a:xfrm>
            <a:off x="4709160" y="1956816"/>
            <a:ext cx="63550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4782312" y="2153158"/>
            <a:ext cx="62087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ESLint 通过</a:t>
            </a:r>
          </a:p>
        </p:txBody>
      </p:sp>
      <p:sp>
        <p:nvSpPr>
          <p:cNvPr id="27" name="Shape 24"/>
          <p:cNvSpPr/>
          <p:nvPr/>
        </p:nvSpPr>
        <p:spPr>
          <a:xfrm>
            <a:off x="868680" y="2377440"/>
            <a:ext cx="2011680" cy="420624"/>
          </a:xfrm>
          <a:prstGeom prst="rect">
            <a:avLst/>
          </a:prstGeom>
          <a:solidFill>
            <a:srgbClr val="F0F8F1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941832" y="2574417"/>
            <a:ext cx="18653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build</a:t>
            </a:r>
          </a:p>
        </p:txBody>
      </p:sp>
      <p:sp>
        <p:nvSpPr>
          <p:cNvPr id="29" name="Shape 26"/>
          <p:cNvSpPr/>
          <p:nvPr/>
        </p:nvSpPr>
        <p:spPr>
          <a:xfrm>
            <a:off x="2880360" y="2377440"/>
            <a:ext cx="1828800" cy="420624"/>
          </a:xfrm>
          <a:prstGeom prst="rect">
            <a:avLst/>
          </a:prstGeom>
          <a:solidFill>
            <a:srgbClr val="F0F8F1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2953512" y="2574417"/>
            <a:ext cx="168249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PASS</a:t>
            </a:r>
          </a:p>
        </p:txBody>
      </p:sp>
      <p:sp>
        <p:nvSpPr>
          <p:cNvPr id="31" name="Shape 28"/>
          <p:cNvSpPr/>
          <p:nvPr/>
        </p:nvSpPr>
        <p:spPr>
          <a:xfrm>
            <a:off x="4709160" y="2377440"/>
            <a:ext cx="6355080" cy="420624"/>
          </a:xfrm>
          <a:prstGeom prst="rect">
            <a:avLst/>
          </a:prstGeom>
          <a:solidFill>
            <a:srgbClr val="F0F8F1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4782312" y="2574417"/>
            <a:ext cx="62087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Next.js 生产构建通过</a:t>
            </a:r>
          </a:p>
        </p:txBody>
      </p:sp>
      <p:sp>
        <p:nvSpPr>
          <p:cNvPr id="33" name="Shape 30"/>
          <p:cNvSpPr/>
          <p:nvPr/>
        </p:nvSpPr>
        <p:spPr>
          <a:xfrm>
            <a:off x="868680" y="2798064"/>
            <a:ext cx="20116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941705" y="2894330"/>
            <a:ext cx="1865630" cy="2673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browser smoke</a:t>
            </a:r>
          </a:p>
        </p:txBody>
      </p:sp>
      <p:sp>
        <p:nvSpPr>
          <p:cNvPr id="35" name="Shape 32"/>
          <p:cNvSpPr/>
          <p:nvPr/>
        </p:nvSpPr>
        <p:spPr>
          <a:xfrm>
            <a:off x="2880360" y="2798064"/>
            <a:ext cx="1828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2953512" y="2994406"/>
            <a:ext cx="168249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PASS</a:t>
            </a:r>
          </a:p>
        </p:txBody>
      </p:sp>
      <p:sp>
        <p:nvSpPr>
          <p:cNvPr id="37" name="Shape 34"/>
          <p:cNvSpPr/>
          <p:nvPr/>
        </p:nvSpPr>
        <p:spPr>
          <a:xfrm>
            <a:off x="4709160" y="2798064"/>
            <a:ext cx="63550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4782312" y="2994406"/>
            <a:ext cx="62087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个核心页面可读</a:t>
            </a:r>
          </a:p>
        </p:txBody>
      </p:sp>
      <p:sp>
        <p:nvSpPr>
          <p:cNvPr id="39" name="Shape 36"/>
          <p:cNvSpPr/>
          <p:nvPr/>
        </p:nvSpPr>
        <p:spPr>
          <a:xfrm>
            <a:off x="868680" y="3218688"/>
            <a:ext cx="2011680" cy="420624"/>
          </a:xfrm>
          <a:prstGeom prst="rect">
            <a:avLst/>
          </a:prstGeom>
          <a:solidFill>
            <a:srgbClr val="F0F8F1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941832" y="3314700"/>
            <a:ext cx="18653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MaaS 实题生成</a:t>
            </a:r>
          </a:p>
        </p:txBody>
      </p:sp>
      <p:sp>
        <p:nvSpPr>
          <p:cNvPr id="41" name="Shape 38"/>
          <p:cNvSpPr/>
          <p:nvPr/>
        </p:nvSpPr>
        <p:spPr>
          <a:xfrm>
            <a:off x="2880360" y="3218688"/>
            <a:ext cx="1828800" cy="420624"/>
          </a:xfrm>
          <a:prstGeom prst="rect">
            <a:avLst/>
          </a:prstGeom>
          <a:solidFill>
            <a:srgbClr val="F0F8F1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2953512" y="3415030"/>
            <a:ext cx="168249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PASS</a:t>
            </a:r>
          </a:p>
        </p:txBody>
      </p:sp>
      <p:sp>
        <p:nvSpPr>
          <p:cNvPr id="43" name="Shape 40"/>
          <p:cNvSpPr/>
          <p:nvPr/>
        </p:nvSpPr>
        <p:spPr>
          <a:xfrm>
            <a:off x="4709160" y="3218688"/>
            <a:ext cx="6355080" cy="420624"/>
          </a:xfrm>
          <a:prstGeom prst="rect">
            <a:avLst/>
          </a:prstGeom>
          <a:solidFill>
            <a:srgbClr val="F0F8F1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1"/>
          <p:cNvSpPr/>
          <p:nvPr/>
        </p:nvSpPr>
        <p:spPr>
          <a:xfrm>
            <a:off x="4782312" y="3415030"/>
            <a:ext cx="62087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听力 / 语法生成并落库</a:t>
            </a:r>
          </a:p>
        </p:txBody>
      </p:sp>
      <p:sp>
        <p:nvSpPr>
          <p:cNvPr id="45" name="Shape 42"/>
          <p:cNvSpPr/>
          <p:nvPr/>
        </p:nvSpPr>
        <p:spPr>
          <a:xfrm>
            <a:off x="868680" y="3639312"/>
            <a:ext cx="20116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3"/>
          <p:cNvSpPr/>
          <p:nvPr/>
        </p:nvSpPr>
        <p:spPr>
          <a:xfrm>
            <a:off x="941832" y="3735324"/>
            <a:ext cx="18653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 Key 边界</a:t>
            </a:r>
          </a:p>
        </p:txBody>
      </p:sp>
      <p:sp>
        <p:nvSpPr>
          <p:cNvPr id="47" name="Shape 44"/>
          <p:cNvSpPr/>
          <p:nvPr/>
        </p:nvSpPr>
        <p:spPr>
          <a:xfrm>
            <a:off x="2880360" y="3639312"/>
            <a:ext cx="1828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2953512" y="3836289"/>
            <a:ext cx="168249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PASS</a:t>
            </a:r>
          </a:p>
        </p:txBody>
      </p:sp>
      <p:sp>
        <p:nvSpPr>
          <p:cNvPr id="49" name="Shape 46"/>
          <p:cNvSpPr/>
          <p:nvPr/>
        </p:nvSpPr>
        <p:spPr>
          <a:xfrm>
            <a:off x="4709160" y="3639312"/>
            <a:ext cx="63550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7"/>
          <p:cNvSpPr/>
          <p:nvPr/>
        </p:nvSpPr>
        <p:spPr>
          <a:xfrm>
            <a:off x="4782312" y="3836289"/>
            <a:ext cx="62087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前端不持有完整 Key</a:t>
            </a:r>
          </a:p>
        </p:txBody>
      </p:sp>
      <p:sp>
        <p:nvSpPr>
          <p:cNvPr id="51" name="Shape 48"/>
          <p:cNvSpPr/>
          <p:nvPr/>
        </p:nvSpPr>
        <p:spPr>
          <a:xfrm>
            <a:off x="868680" y="4059936"/>
            <a:ext cx="2011680" cy="420624"/>
          </a:xfrm>
          <a:prstGeom prst="rect">
            <a:avLst/>
          </a:prstGeom>
          <a:solidFill>
            <a:srgbClr val="F0F8F1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9"/>
          <p:cNvSpPr/>
          <p:nvPr/>
        </p:nvSpPr>
        <p:spPr>
          <a:xfrm>
            <a:off x="941832" y="4155948"/>
            <a:ext cx="18653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acceptance log</a:t>
            </a:r>
          </a:p>
        </p:txBody>
      </p:sp>
      <p:sp>
        <p:nvSpPr>
          <p:cNvPr id="53" name="Shape 50"/>
          <p:cNvSpPr/>
          <p:nvPr/>
        </p:nvSpPr>
        <p:spPr>
          <a:xfrm>
            <a:off x="2880360" y="4059936"/>
            <a:ext cx="1828800" cy="420624"/>
          </a:xfrm>
          <a:prstGeom prst="rect">
            <a:avLst/>
          </a:prstGeom>
          <a:solidFill>
            <a:srgbClr val="F0F8F1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1"/>
          <p:cNvSpPr/>
          <p:nvPr/>
        </p:nvSpPr>
        <p:spPr>
          <a:xfrm>
            <a:off x="2953512" y="4256278"/>
            <a:ext cx="168249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PASS</a:t>
            </a:r>
          </a:p>
        </p:txBody>
      </p:sp>
      <p:sp>
        <p:nvSpPr>
          <p:cNvPr id="55" name="Shape 52"/>
          <p:cNvSpPr/>
          <p:nvPr/>
        </p:nvSpPr>
        <p:spPr>
          <a:xfrm>
            <a:off x="4709160" y="4059936"/>
            <a:ext cx="6355080" cy="420624"/>
          </a:xfrm>
          <a:prstGeom prst="rect">
            <a:avLst/>
          </a:prstGeom>
          <a:solidFill>
            <a:srgbClr val="F0F8F1"/>
          </a:solidFill>
          <a:ln w="10160">
            <a:solidFill>
              <a:srgbClr val="CFE3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3"/>
          <p:cNvSpPr/>
          <p:nvPr/>
        </p:nvSpPr>
        <p:spPr>
          <a:xfrm>
            <a:off x="4782312" y="4256278"/>
            <a:ext cx="620877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规格、功能、安全结果已归档</a:t>
            </a:r>
          </a:p>
        </p:txBody>
      </p:sp>
      <p:sp>
        <p:nvSpPr>
          <p:cNvPr id="57" name="Text 54"/>
          <p:cNvSpPr/>
          <p:nvPr/>
        </p:nvSpPr>
        <p:spPr>
          <a:xfrm>
            <a:off x="1901952" y="5440680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54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验收记录的价值：把“我觉得完成了”变成“证据显示通过”。</a:t>
            </a:r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4"/>
          </a:solidFill>
          <a:ln w="12700">
            <a:solidFill>
              <a:srgbClr val="FBFC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0" name="Text 8"/>
          <p:cNvSpPr/>
          <p:nvPr/>
        </p:nvSpPr>
        <p:spPr>
          <a:xfrm>
            <a:off x="530352" y="6217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总结反思：从功能实现走向工程化表达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1216152"/>
            <a:ext cx="987552" cy="0"/>
          </a:xfrm>
          <a:prstGeom prst="line">
            <a:avLst/>
          </a:prstGeom>
          <a:noFill/>
          <a:ln w="3175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900" dirty="0"/>
          </a:p>
        </p:txBody>
      </p:sp>
      <p:sp>
        <p:nvSpPr>
          <p:cNvPr id="15" name="Shape 12"/>
          <p:cNvSpPr/>
          <p:nvPr>
            <p:custDataLst>
              <p:tags r:id="rId1"/>
            </p:custDataLst>
          </p:nvPr>
        </p:nvSpPr>
        <p:spPr>
          <a:xfrm>
            <a:off x="585216" y="1417320"/>
            <a:ext cx="109728" cy="0"/>
          </a:xfrm>
          <a:prstGeom prst="line">
            <a:avLst/>
          </a:prstGeom>
          <a:noFill/>
          <a:ln w="26670">
            <a:solidFill>
              <a:srgbClr val="3B8F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>
            <p:custDataLst>
              <p:tags r:id="rId2"/>
            </p:custDataLst>
          </p:nvPr>
        </p:nvSpPr>
        <p:spPr>
          <a:xfrm>
            <a:off x="749808" y="1325880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方法收获</a:t>
            </a:r>
          </a:p>
        </p:txBody>
      </p:sp>
      <p:sp>
        <p:nvSpPr>
          <p:cNvPr id="17" name="Text 14"/>
          <p:cNvSpPr/>
          <p:nvPr>
            <p:custDataLst>
              <p:tags r:id="rId3"/>
            </p:custDataLst>
          </p:nvPr>
        </p:nvSpPr>
        <p:spPr>
          <a:xfrm>
            <a:off x="749808" y="1737360"/>
            <a:ext cx="480060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先写规格，再做设计和任务拆解，能把模糊想法变成可审阅、可执行、可验收的开发链路。</a:t>
            </a:r>
          </a:p>
        </p:txBody>
      </p:sp>
      <p:sp>
        <p:nvSpPr>
          <p:cNvPr id="18" name="Shape 15"/>
          <p:cNvSpPr/>
          <p:nvPr>
            <p:custDataLst>
              <p:tags r:id="rId4"/>
            </p:custDataLst>
          </p:nvPr>
        </p:nvSpPr>
        <p:spPr>
          <a:xfrm>
            <a:off x="5980176" y="1417320"/>
            <a:ext cx="109728" cy="0"/>
          </a:xfrm>
          <a:prstGeom prst="line">
            <a:avLst/>
          </a:prstGeom>
          <a:noFill/>
          <a:ln w="2667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>
            <p:custDataLst>
              <p:tags r:id="rId5"/>
            </p:custDataLst>
          </p:nvPr>
        </p:nvSpPr>
        <p:spPr>
          <a:xfrm>
            <a:off x="6144768" y="1325880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B8D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建模收获</a:t>
            </a:r>
          </a:p>
        </p:txBody>
      </p:sp>
      <p:sp>
        <p:nvSpPr>
          <p:cNvPr id="20" name="Text 17"/>
          <p:cNvSpPr/>
          <p:nvPr>
            <p:custDataLst>
              <p:tags r:id="rId6"/>
            </p:custDataLst>
          </p:nvPr>
        </p:nvSpPr>
        <p:spPr>
          <a:xfrm>
            <a:off x="6144768" y="1737360"/>
            <a:ext cx="480060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用例图、活动图、类图和时序图分别解释需求边界、业务流程、静态结构和对象交互。</a:t>
            </a:r>
          </a:p>
        </p:txBody>
      </p:sp>
      <p:sp>
        <p:nvSpPr>
          <p:cNvPr id="21" name="Shape 18"/>
          <p:cNvSpPr/>
          <p:nvPr>
            <p:custDataLst>
              <p:tags r:id="rId7"/>
            </p:custDataLst>
          </p:nvPr>
        </p:nvSpPr>
        <p:spPr>
          <a:xfrm>
            <a:off x="585216" y="2862072"/>
            <a:ext cx="109728" cy="0"/>
          </a:xfrm>
          <a:prstGeom prst="line">
            <a:avLst/>
          </a:prstGeom>
          <a:noFill/>
          <a:ln w="26670">
            <a:solidFill>
              <a:srgbClr val="F2A4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>
            <p:custDataLst>
              <p:tags r:id="rId8"/>
            </p:custDataLst>
          </p:nvPr>
        </p:nvSpPr>
        <p:spPr>
          <a:xfrm>
            <a:off x="749808" y="2770632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A4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工程收获</a:t>
            </a:r>
          </a:p>
        </p:txBody>
      </p:sp>
      <p:sp>
        <p:nvSpPr>
          <p:cNvPr id="23" name="Text 20"/>
          <p:cNvSpPr/>
          <p:nvPr>
            <p:custDataLst>
              <p:tags r:id="rId9"/>
            </p:custDataLst>
          </p:nvPr>
        </p:nvSpPr>
        <p:spPr>
          <a:xfrm>
            <a:off x="749808" y="3182112"/>
            <a:ext cx="480060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生成结果必须经过服务端边界、JSON 解析、字段校验和数据库落库检查，不能直接进入业务。</a:t>
            </a:r>
          </a:p>
        </p:txBody>
      </p:sp>
      <p:sp>
        <p:nvSpPr>
          <p:cNvPr id="24" name="Shape 21"/>
          <p:cNvSpPr/>
          <p:nvPr>
            <p:custDataLst>
              <p:tags r:id="rId10"/>
            </p:custDataLst>
          </p:nvPr>
        </p:nvSpPr>
        <p:spPr>
          <a:xfrm>
            <a:off x="5980176" y="2862072"/>
            <a:ext cx="109728" cy="0"/>
          </a:xfrm>
          <a:prstGeom prst="line">
            <a:avLst/>
          </a:prstGeom>
          <a:noFill/>
          <a:ln w="26670">
            <a:solidFill>
              <a:srgbClr val="E886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>
            <p:custDataLst>
              <p:tags r:id="rId11"/>
            </p:custDataLst>
          </p:nvPr>
        </p:nvSpPr>
        <p:spPr>
          <a:xfrm>
            <a:off x="6144768" y="2770632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886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产品收获</a:t>
            </a:r>
          </a:p>
        </p:txBody>
      </p:sp>
      <p:sp>
        <p:nvSpPr>
          <p:cNvPr id="26" name="Text 23"/>
          <p:cNvSpPr/>
          <p:nvPr>
            <p:custDataLst>
              <p:tags r:id="rId12"/>
            </p:custDataLst>
          </p:nvPr>
        </p:nvSpPr>
        <p:spPr>
          <a:xfrm>
            <a:off x="6144768" y="3182112"/>
            <a:ext cx="480060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学习工具的价值不只在生成题目，更在作答记录、错题复练和统计反馈形成持续学习闭环。</a:t>
            </a:r>
          </a:p>
        </p:txBody>
      </p:sp>
      <p:sp>
        <p:nvSpPr>
          <p:cNvPr id="27" name="Shape 24"/>
          <p:cNvSpPr/>
          <p:nvPr>
            <p:custDataLst>
              <p:tags r:id="rId13"/>
            </p:custDataLst>
          </p:nvPr>
        </p:nvSpPr>
        <p:spPr>
          <a:xfrm>
            <a:off x="585216" y="4306824"/>
            <a:ext cx="109728" cy="0"/>
          </a:xfrm>
          <a:prstGeom prst="line">
            <a:avLst/>
          </a:prstGeom>
          <a:noFill/>
          <a:ln w="2667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>
            <p:custDataLst>
              <p:tags r:id="rId14"/>
            </p:custDataLst>
          </p:nvPr>
        </p:nvSpPr>
        <p:spPr>
          <a:xfrm>
            <a:off x="749808" y="4215384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不足反思</a:t>
            </a:r>
          </a:p>
        </p:txBody>
      </p:sp>
      <p:sp>
        <p:nvSpPr>
          <p:cNvPr id="29" name="Text 26"/>
          <p:cNvSpPr/>
          <p:nvPr>
            <p:custDataLst>
              <p:tags r:id="rId15"/>
            </p:custDataLst>
          </p:nvPr>
        </p:nvSpPr>
        <p:spPr>
          <a:xfrm>
            <a:off x="749808" y="4626864"/>
            <a:ext cx="480060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当前仍是本地个人版，缺少账号体系、班级管理、多端同步和更丰富的题型数据沉淀。</a:t>
            </a:r>
          </a:p>
        </p:txBody>
      </p:sp>
      <p:sp>
        <p:nvSpPr>
          <p:cNvPr id="30" name="Shape 27"/>
          <p:cNvSpPr/>
          <p:nvPr>
            <p:custDataLst>
              <p:tags r:id="rId16"/>
            </p:custDataLst>
          </p:nvPr>
        </p:nvSpPr>
        <p:spPr>
          <a:xfrm>
            <a:off x="5980176" y="4306824"/>
            <a:ext cx="109728" cy="0"/>
          </a:xfrm>
          <a:prstGeom prst="line">
            <a:avLst/>
          </a:prstGeom>
          <a:noFill/>
          <a:ln w="26670">
            <a:solidFill>
              <a:srgbClr val="235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>
            <p:custDataLst>
              <p:tags r:id="rId17"/>
            </p:custDataLst>
          </p:nvPr>
        </p:nvSpPr>
        <p:spPr>
          <a:xfrm>
            <a:off x="6144768" y="4215384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354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后续扩展</a:t>
            </a:r>
          </a:p>
        </p:txBody>
      </p:sp>
      <p:sp>
        <p:nvSpPr>
          <p:cNvPr id="32" name="Text 29"/>
          <p:cNvSpPr/>
          <p:nvPr>
            <p:custDataLst>
              <p:tags r:id="rId18"/>
            </p:custDataLst>
          </p:nvPr>
        </p:nvSpPr>
        <p:spPr>
          <a:xfrm>
            <a:off x="6144768" y="4626864"/>
            <a:ext cx="480060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4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下一步应继续按 spec-driven 流程扩展：先定义规格，再补设计、任务、验收和实现。</a:t>
            </a:r>
          </a:p>
        </p:txBody>
      </p:sp>
      <p:sp>
        <p:nvSpPr>
          <p:cNvPr id="33" name="Text 30"/>
          <p:cNvSpPr/>
          <p:nvPr/>
        </p:nvSpPr>
        <p:spPr>
          <a:xfrm>
            <a:off x="1536065" y="5751195"/>
            <a:ext cx="10456545" cy="2559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54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最终理解：软件开发不是把页面堆出来，而是把需求、模型、代码和验收连成可解释的系统。</a:t>
            </a:r>
          </a:p>
        </p:txBody>
      </p:sp>
    </p:spTree>
  </p:cSld>
  <p:clrMapOvr>
    <a:masterClrMapping/>
  </p:clrMapOvr>
  <p:transition spd="med">
    <p:wipe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rot="1500000">
            <a:off x="9784080" y="-1143000"/>
            <a:ext cx="2926080" cy="2926080"/>
          </a:xfrm>
          <a:prstGeom prst="arc">
            <a:avLst/>
          </a:prstGeom>
          <a:solidFill>
            <a:srgbClr val="DDF5E8">
              <a:alpha val="92000"/>
            </a:srgbClr>
          </a:solidFill>
          <a:ln w="12700">
            <a:solidFill>
              <a:srgbClr val="D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-960000">
            <a:off x="-777240" y="5486400"/>
            <a:ext cx="2468880" cy="2468880"/>
          </a:xfrm>
          <a:prstGeom prst="arc">
            <a:avLst/>
          </a:prstGeom>
          <a:solidFill>
            <a:srgbClr val="FFE8B2">
              <a:alpha val="85000"/>
            </a:srgbClr>
          </a:solidFill>
          <a:ln w="12700">
            <a:solidFill>
              <a:srgbClr val="FFE8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2104" y="201168"/>
            <a:ext cx="82296" cy="0"/>
          </a:xfrm>
          <a:prstGeom prst="line">
            <a:avLst/>
          </a:prstGeom>
          <a:noFill/>
          <a:ln w="25400">
            <a:solidFill>
              <a:srgbClr val="3B8F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96696" y="201168"/>
            <a:ext cx="82296" cy="0"/>
          </a:xfrm>
          <a:prstGeom prst="line">
            <a:avLst/>
          </a:prstGeom>
          <a:noFill/>
          <a:ln w="25400">
            <a:solidFill>
              <a:srgbClr val="F2A4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0352" y="32004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TOEIC Practice Studio</a:t>
            </a:r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900" dirty="0"/>
          </a:p>
        </p:txBody>
      </p:sp>
      <p:sp>
        <p:nvSpPr>
          <p:cNvPr id="37" name="文本框 36"/>
          <p:cNvSpPr txBox="1"/>
          <p:nvPr/>
        </p:nvSpPr>
        <p:spPr>
          <a:xfrm>
            <a:off x="749935" y="2346325"/>
            <a:ext cx="110845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</a:p>
        </p:txBody>
      </p:sp>
    </p:spTree>
  </p:cSld>
  <p:clrMapOvr>
    <a:masterClrMapping/>
  </p:clrMapOvr>
  <p:transition spd="med">
    <p:wipe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9.04,&quot;top&quot;:111.6,&quot;width&quot;:879.8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6,&quot;left&quot;:46.08,&quot;top&quot;:104.4,&quot;width&quot;:815.7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1338</Words>
  <Application>Microsoft Office PowerPoint</Application>
  <PresentationFormat>宽屏</PresentationFormat>
  <Paragraphs>347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Noto Sans CJK SC</vt:lpstr>
      <vt:lpstr>微软雅黑</vt:lpstr>
      <vt:lpstr>Arial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Classroom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TOEIC Practice Studio 课堂汇报增强版</dc:title>
  <dc:subject>课堂汇报增强版</dc:subject>
  <dc:creator>TOEIC Practice Studio</dc:creator>
  <cp:lastModifiedBy>1695993942@qq.com</cp:lastModifiedBy>
  <cp:revision>13</cp:revision>
  <dcterms:created xsi:type="dcterms:W3CDTF">2026-05-10T06:57:00Z</dcterms:created>
  <dcterms:modified xsi:type="dcterms:W3CDTF">2026-05-10T14:47:53Z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CA729522160B4B5A85454843C45F4B3F_12</vt:lpwstr>
  </property>
</Properties>
</file>